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embeddedFontLst>
    <p:embeddedFont>
      <p:font typeface="Inter"/>
      <p:bold r:id="rId20"/>
      <p:italic r:id="rId21"/>
    </p:embeddedFont>
    <p:embeddedFont>
      <p:font typeface="Space Grotesk"/>
      <p:bold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7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video" Target="../media/media2.mp4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24500" y="3294608"/>
            <a:ext cx="1143000" cy="762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274343" y="1305966"/>
            <a:ext cx="364331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EA580C"/>
                </a:solidFill>
                <a:latin typeface="Inter"/>
              </a:rPr>
              <a:t>SUB-CPMK 2 · EVALUASI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437" y="1763166"/>
            <a:ext cx="12049125" cy="1226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sz="4200" b="1" i="0" u="none">
                <a:solidFill>
                  <a:srgbClr val="171717"/>
                </a:solidFill>
                <a:latin typeface="Inter"/>
              </a:rPr>
              <a:t>Analisis Kegagalan Sistem Informasi Penempatan KKN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93093" y="3675608"/>
            <a:ext cx="8405812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525252"/>
                </a:solidFill>
                <a:latin typeface="Inter"/>
              </a:rPr>
              <a:t>Studi Kasus Infrastruktur Terdistribusi — Universitas Tadulako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9984" y="4561433"/>
            <a:ext cx="863203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71717"/>
                </a:solidFill>
                <a:latin typeface="Inter"/>
              </a:rPr>
              <a:t>Kelompok 9 — Varian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79984" y="4980533"/>
            <a:ext cx="863203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525252"/>
                </a:solidFill>
                <a:latin typeface="Inter"/>
              </a:rPr>
              <a:t>Reinnher Sakunab · F55124110  |  Andi Besse Opu Tenri Sompa · F55124094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79984" y="5323433"/>
            <a:ext cx="863203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525252"/>
                </a:solidFill>
                <a:latin typeface="Inter"/>
              </a:rPr>
              <a:t>Esar Fauzan · F55124092  |  Muh. Dimas Syahputra · F55124120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886075"/>
            <a:ext cx="3732162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341762" y="2886075"/>
            <a:ext cx="1791444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133207" y="2886075"/>
            <a:ext cx="5449192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3433762"/>
            <a:ext cx="373216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41762" y="3433762"/>
            <a:ext cx="1791444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33207" y="3433762"/>
            <a:ext cx="544919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3967162"/>
            <a:ext cx="373216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1762" y="3967162"/>
            <a:ext cx="1791444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33207" y="3967162"/>
            <a:ext cx="544919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" y="4500562"/>
            <a:ext cx="373216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1762" y="4500562"/>
            <a:ext cx="1791444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33207" y="4500562"/>
            <a:ext cx="544919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5033962"/>
            <a:ext cx="373216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41762" y="5033962"/>
            <a:ext cx="1791444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33207" y="5033962"/>
            <a:ext cx="544919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128624"/>
              </p:ext>
            </p:extLst>
          </p:nvPr>
        </p:nvGraphicFramePr>
        <p:xfrm>
          <a:off x="609600" y="2390775"/>
          <a:ext cx="10972798" cy="2657475"/>
        </p:xfrm>
        <a:graphic>
          <a:graphicData uri="http://schemas.openxmlformats.org/drawingml/2006/table">
            <a:tbl>
              <a:tblPr/>
              <a:tblGrid>
                <a:gridCol w="3732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1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9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71717"/>
                          </a:solidFill>
                          <a:latin typeface="Inter"/>
                        </a:rPr>
                        <a:t>Nama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71717"/>
                          </a:solidFill>
                          <a:latin typeface="Inter"/>
                        </a:rPr>
                        <a:t>Stambuk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71717"/>
                          </a:solidFill>
                          <a:latin typeface="Inter"/>
                        </a:rPr>
                        <a:t>Bagian yang Dijelaskan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Reinnher Sakunab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Space Grotesk"/>
                        </a:rPr>
                        <a:t>F55124110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Bagian 2 (sinkronisasi &amp; koordinasi)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 algn="l"/>
                      <a:r>
                        <a:rPr lang="id-ID" sz="1350" b="0" i="0" u="none" dirty="0">
                          <a:solidFill>
                            <a:srgbClr val="404040"/>
                          </a:solidFill>
                          <a:latin typeface="Inter"/>
                        </a:rPr>
                        <a:t>Muh. Dimas Syahputra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Space Grotesk"/>
                        </a:rPr>
                        <a:t>F55124094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Bagian 1.3–1.5 (analisis kausal)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EA580C"/>
                          </a:solidFill>
                          <a:latin typeface="Inter"/>
                        </a:rPr>
                        <a:t>Esar Fauzan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EA580C"/>
                          </a:solidFill>
                          <a:latin typeface="Space Grotesk"/>
                        </a:rPr>
                        <a:t>F55124092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EA580C"/>
                          </a:solidFill>
                          <a:latin typeface="Inter"/>
                        </a:rPr>
                        <a:t>Bagian 1.1–1.2 &amp; 1.6–1.7 (hitungan &amp; alat ukur)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Inter"/>
                        </a:rPr>
                        <a:t>Andi Besse 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Inter"/>
                        </a:rPr>
                        <a:t>Opu</a:t>
                      </a:r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Inter"/>
                        </a:rPr>
                        <a:t> Tenri </a:t>
                      </a:r>
                      <a:r>
                        <a:rPr lang="id-ID" sz="1350" b="0" i="0" u="none" dirty="0">
                          <a:solidFill>
                            <a:srgbClr val="404040"/>
                          </a:solidFill>
                          <a:latin typeface="Inter"/>
                        </a:rPr>
                        <a:t>Sompa</a:t>
                      </a:r>
                      <a:endParaRPr sz="1350" b="0" i="0" u="none" dirty="0">
                        <a:solidFill>
                          <a:srgbClr val="40404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Space Grotesk"/>
                        </a:rPr>
                        <a:t>F55124120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Inter"/>
                        </a:rPr>
                        <a:t>Bagian 3 (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Inter"/>
                        </a:rPr>
                        <a:t>rekomendasi</a:t>
                      </a:r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Inter"/>
                        </a:rPr>
                        <a:t>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09600" y="6096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71717"/>
                </a:solidFill>
                <a:latin typeface="Inter"/>
              </a:rPr>
              <a:t>Anggota &amp; Pembagian Tugas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-2133600" y="5276850"/>
            <a:ext cx="13716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0" i="1" u="none">
                <a:solidFill>
                  <a:srgbClr val="737373"/>
                </a:solidFill>
                <a:latin typeface="Inter"/>
              </a:rPr>
              <a:t>Pembagian berdasarkan tingkat kesulitan &amp; beban kerja, bukan penilaian kemampuan anggota.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334000"/>
            <a:ext cx="10972800" cy="9144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1971675"/>
            <a:ext cx="5334000" cy="3057525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48400" y="1971675"/>
            <a:ext cx="5334000" cy="3057525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5334000"/>
            <a:ext cx="57150" cy="9144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71717"/>
                </a:solidFill>
                <a:latin typeface="Inter"/>
              </a:rPr>
              <a:t>Kasus dalam Satu Menit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381125"/>
            <a:ext cx="115824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04040"/>
                </a:solidFill>
                <a:latin typeface="Inter"/>
              </a:rPr>
              <a:t>Sistem Informasi Penempatan KKN berjalan di dua server yang saling mereplikasi data: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5562600"/>
            <a:ext cx="105537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2410C"/>
                </a:solidFill>
                <a:latin typeface="Inter"/>
              </a:rPr>
              <a:t>Kedua server menyimpan replika data kuota &amp; penempatan. Sinkronisasi dilakukan secara berkala (eventual), tanpa koordinasi eksplisit saat penulisan bersamaan.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2286000"/>
            <a:ext cx="6175771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Inter"/>
              </a:rPr>
              <a:t>Server A — UPT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2762250"/>
            <a:ext cx="5881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Inter"/>
              </a:rPr>
              <a:t>Unit Pelaksana Teknis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038475"/>
            <a:ext cx="48006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04040"/>
                </a:solidFill>
                <a:latin typeface="Inter"/>
              </a:rPr>
              <a:t>Melayani pendaftaran &amp; permohonan resmi mahasiswa.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2286000"/>
            <a:ext cx="5629275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Inter"/>
              </a:rPr>
              <a:t>Server B — LPPM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2762250"/>
            <a:ext cx="56292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Inter"/>
              </a:rPr>
              <a:t>Lembaga Penelitian &amp; Pengabdian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3038475"/>
            <a:ext cx="56292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04040"/>
                </a:solidFill>
                <a:latin typeface="Inter"/>
              </a:rPr>
              <a:t>Melayani verifikasi &amp; pengumuman.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200275"/>
            <a:ext cx="5334000" cy="2562225"/>
          </a:xfrm>
          <a:prstGeom prst="rect">
            <a:avLst/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248400" y="2200275"/>
            <a:ext cx="5334000" cy="2562225"/>
          </a:xfrm>
          <a:prstGeom prst="rect">
            <a:avLst/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2543175"/>
            <a:ext cx="1152525" cy="238125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200275"/>
            <a:ext cx="5334000" cy="3810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4086225"/>
            <a:ext cx="4724400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53200" y="2543175"/>
            <a:ext cx="1152525" cy="238125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48400" y="2200275"/>
            <a:ext cx="5334000" cy="3810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53200" y="4086225"/>
            <a:ext cx="4724400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4086225"/>
            <a:ext cx="4724400" cy="9525"/>
          </a:xfrm>
          <a:prstGeom prst="rect">
            <a:avLst/>
          </a:prstGeom>
          <a:solidFill>
            <a:srgbClr val="FBC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53200" y="4086225"/>
            <a:ext cx="4724400" cy="9525"/>
          </a:xfrm>
          <a:prstGeom prst="rect">
            <a:avLst/>
          </a:prstGeom>
          <a:solidFill>
            <a:srgbClr val="FBC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600" y="6096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71717"/>
                </a:solidFill>
                <a:latin typeface="Inter"/>
              </a:rPr>
              <a:t>Dua Aturan yang Jadi Akar Masalah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381000" y="5962650"/>
            <a:ext cx="129540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1" i="0" u="none">
                <a:solidFill>
                  <a:srgbClr val="171717"/>
                </a:solidFill>
                <a:latin typeface="Inter"/>
              </a:rPr>
              <a:t>Kedua aturan ini sah secara implementasi, tetapi tidak aman untuk operasi concurrent pada sistem terdistribusi.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2581275"/>
            <a:ext cx="10191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Inter"/>
              </a:rPr>
              <a:t>BERMASALAH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33700"/>
            <a:ext cx="62007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831843"/>
                </a:solidFill>
                <a:latin typeface="Inter"/>
              </a:rPr>
              <a:t>Aturan 1 — LWW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62325"/>
            <a:ext cx="48196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04040"/>
                </a:solidFill>
                <a:latin typeface="Inter"/>
              </a:rPr>
              <a:t>Konflik antar-replika diselesaikan dengan Last-Write-Wins berbasis timestamp jam fisik.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0" y="2581275"/>
            <a:ext cx="10191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Inter"/>
              </a:rPr>
              <a:t>BERMASALAH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200" y="2933700"/>
            <a:ext cx="56388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831843"/>
                </a:solidFill>
                <a:latin typeface="Inter"/>
              </a:rPr>
              <a:t>Aturan 2 — Cek Kuota Lokal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200" y="3362325"/>
            <a:ext cx="48196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04040"/>
                </a:solidFill>
                <a:latin typeface="Inter"/>
              </a:rPr>
              <a:t>Kuota dicek pada replika lokal tanpa mutual exclusion antar-server.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48150"/>
            <a:ext cx="59055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BE185D"/>
                </a:solidFill>
                <a:latin typeface="Inter"/>
              </a:rPr>
              <a:t>→ Masalah: jam dua mesin tidak identik.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200" y="4248150"/>
            <a:ext cx="56388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BE185D"/>
                </a:solidFill>
                <a:latin typeface="Inter"/>
              </a:rPr>
              <a:t>→ Masalah: dua server bisa lolos cek secara bersamaan.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334000"/>
            <a:ext cx="10972800" cy="59055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1800225"/>
            <a:ext cx="935682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45282" y="1800225"/>
            <a:ext cx="1371600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16882" y="1800225"/>
            <a:ext cx="2063799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980682" y="1800225"/>
            <a:ext cx="6601717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5334000"/>
            <a:ext cx="38100" cy="5905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2347912"/>
            <a:ext cx="93568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545282" y="2347912"/>
            <a:ext cx="137160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916882" y="2347912"/>
            <a:ext cx="2063799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980682" y="2347912"/>
            <a:ext cx="6601717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9600" y="2881312"/>
            <a:ext cx="93568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545282" y="2881312"/>
            <a:ext cx="137160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16882" y="2881312"/>
            <a:ext cx="2063799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980682" y="2881312"/>
            <a:ext cx="6601717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9600" y="3414712"/>
            <a:ext cx="93568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545282" y="3414712"/>
            <a:ext cx="137160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916882" y="3414712"/>
            <a:ext cx="2063799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980682" y="3414712"/>
            <a:ext cx="6601717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9600" y="3948112"/>
            <a:ext cx="93568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545282" y="3948112"/>
            <a:ext cx="137160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916882" y="3948112"/>
            <a:ext cx="2063799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980682" y="3948112"/>
            <a:ext cx="6601717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9600" y="4481512"/>
            <a:ext cx="93568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545282" y="4481512"/>
            <a:ext cx="137160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916882" y="4481512"/>
            <a:ext cx="2063799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80682" y="4481512"/>
            <a:ext cx="6601717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09600" y="5014912"/>
            <a:ext cx="935682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545282" y="5014912"/>
            <a:ext cx="137160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916882" y="5014912"/>
            <a:ext cx="2063799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980682" y="5014912"/>
            <a:ext cx="6601717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609600" y="1304925"/>
          <a:ext cx="10972798" cy="3724275"/>
        </p:xfrm>
        <a:graphic>
          <a:graphicData uri="http://schemas.openxmlformats.org/drawingml/2006/table">
            <a:tbl>
              <a:tblPr/>
              <a:tblGrid>
                <a:gridCol w="9356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1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2039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71717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71717"/>
                          </a:solidFill>
                          <a:latin typeface="Inter"/>
                        </a:rPr>
                        <a:t>Server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71717"/>
                          </a:solidFill>
                          <a:latin typeface="Inter"/>
                        </a:rPr>
                        <a:t>Waktu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71717"/>
                          </a:solidFill>
                          <a:latin typeface="Inter"/>
                        </a:rPr>
                        <a:t>Aksi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039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Space Grotesk"/>
                        </a:rPr>
                        <a:t>09:18:56.236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Buka data Y.T. (versi 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039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Space Grotesk"/>
                        </a:rPr>
                        <a:t>09:19:04.236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Terima replika versi 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2039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Space Grotesk"/>
                        </a:rPr>
                        <a:t>09:19:04.586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Buka data Y.T. (versi 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2039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DC2626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DC2626"/>
                          </a:solidFill>
                          <a:latin typeface="Inter"/>
                        </a:rPr>
                        <a:t>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DC2626"/>
                          </a:solidFill>
                          <a:latin typeface="Space Grotesk"/>
                        </a:rPr>
                        <a:t>09:19:05.736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DC2626"/>
                          </a:solidFill>
                          <a:latin typeface="Inter"/>
                        </a:rPr>
                        <a:t>Simpan versi 3: BWT-08 → TNV-03 (berdasar versi 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2039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DC2626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DC2626"/>
                          </a:solidFill>
                          <a:latin typeface="Inter"/>
                        </a:rPr>
                        <a:t>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DC2626"/>
                          </a:solidFill>
                          <a:latin typeface="Space Grotesk"/>
                        </a:rPr>
                        <a:t>09:19:07.436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DC2626"/>
                          </a:solidFill>
                          <a:latin typeface="Inter"/>
                        </a:rPr>
                        <a:t>Simpan versi 2: DPL &amp; Kelompok 30 (berdasar versi 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041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Space Grotesk"/>
                        </a:rPr>
                        <a:t>09:19:10.336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Terima replika versi 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609600" y="4572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71717"/>
                </a:solidFill>
                <a:latin typeface="Inter"/>
              </a:rPr>
              <a:t>Tabel 1: Log Kejadian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" y="5486400"/>
            <a:ext cx="113919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2410C"/>
                </a:solidFill>
                <a:latin typeface="Inter"/>
              </a:rPr>
              <a:t>Baris 4 &amp; 5 disorot: dua penulisan bersamaan yang kemudian berebut kemenangan di mekanisme LWW.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928812"/>
            <a:ext cx="1645890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55490" y="1928812"/>
            <a:ext cx="2743200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98690" y="1928812"/>
            <a:ext cx="6583709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3267075"/>
            <a:ext cx="164589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55490" y="3267075"/>
            <a:ext cx="274320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998690" y="3267075"/>
            <a:ext cx="6583709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4791075"/>
            <a:ext cx="164589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55490" y="4791075"/>
            <a:ext cx="274320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998690" y="4791075"/>
            <a:ext cx="6583709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" y="6105525"/>
            <a:ext cx="164589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55490" y="6105525"/>
            <a:ext cx="274320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998690" y="6105525"/>
            <a:ext cx="6583709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511853"/>
              </p:ext>
            </p:extLst>
          </p:nvPr>
        </p:nvGraphicFramePr>
        <p:xfrm>
          <a:off x="609600" y="609599"/>
          <a:ext cx="10972799" cy="6467475"/>
        </p:xfrm>
        <a:graphic>
          <a:graphicData uri="http://schemas.openxmlformats.org/drawingml/2006/table">
            <a:tbl>
              <a:tblPr/>
              <a:tblGrid>
                <a:gridCol w="1645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7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7157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71717"/>
                          </a:solidFill>
                          <a:latin typeface="Inter"/>
                        </a:rPr>
                        <a:t>Kejadian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71717"/>
                          </a:solidFill>
                          <a:latin typeface="Inter"/>
                        </a:rPr>
                        <a:t>Parameter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171717"/>
                          </a:solidFill>
                          <a:latin typeface="Inter"/>
                        </a:rPr>
                        <a:t>Nilai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157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04040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Lokasi / kuota</a:t>
                      </a:r>
                      <a:r>
                        <a:t>
</a:t>
                      </a:r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
         Penambahan</a:t>
                      </a:r>
                      <a:r>
                        <a:t>
</a:t>
                      </a:r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
         Jeda replikasi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Inter"/>
                        </a:rPr>
                        <a:t>BWS-02 (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Inter"/>
                        </a:rPr>
                        <a:t>Kec</a:t>
                      </a:r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Inter"/>
                        </a:rPr>
                        <a:t>. Banawa Selatan) · 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Inter"/>
                        </a:rPr>
                        <a:t>kuota</a:t>
                      </a:r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Inter"/>
                        </a:rPr>
                        <a:t> 15 · 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Inter"/>
                        </a:rPr>
                        <a:t>terisi</a:t>
                      </a:r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Inter"/>
                        </a:rPr>
                        <a:t> 10</a:t>
                      </a:r>
                      <a:r>
                        <a:rPr dirty="0"/>
                        <a:t>
</a:t>
                      </a:r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Inter"/>
                        </a:rPr>
                        <a:t>
         Server A +5 · Server B +4</a:t>
                      </a:r>
                      <a:r>
                        <a:rPr dirty="0"/>
                        <a:t>
</a:t>
                      </a:r>
                      <a:r>
                        <a:rPr sz="1350" b="1" i="0" u="none" dirty="0">
                          <a:solidFill>
                            <a:srgbClr val="DC2626"/>
                          </a:solidFill>
                          <a:latin typeface="Inter"/>
                        </a:rPr>
                        <a:t>≈ 2,0 </a:t>
                      </a:r>
                      <a:r>
                        <a:rPr sz="1350" b="1" i="0" u="none" dirty="0" err="1">
                          <a:solidFill>
                            <a:srgbClr val="DC2626"/>
                          </a:solidFill>
                          <a:latin typeface="Inter"/>
                        </a:rPr>
                        <a:t>detik</a:t>
                      </a:r>
                      <a:r>
                        <a:rPr sz="1350" b="1" i="0" u="none" dirty="0">
                          <a:solidFill>
                            <a:srgbClr val="DC2626"/>
                          </a:solidFill>
                          <a:latin typeface="Inter"/>
                        </a:rPr>
                        <a:t> → 10 + 5 + 4 = 19 &gt; 15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157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04040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Link antargedung</a:t>
                      </a:r>
                      <a:r>
                        <a:t>
</a:t>
                      </a:r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
         Timeout heartbeat</a:t>
                      </a:r>
                      <a:r>
                        <a:t>
</a:t>
                      </a:r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
         Coordinator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Putus 7 menit</a:t>
                      </a:r>
                      <a:r>
                        <a:t>
</a:t>
                      </a:r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
         6 detik</a:t>
                      </a:r>
                      <a:r>
                        <a:t>
</a:t>
                      </a:r>
                      <a:r>
                        <a:rPr sz="1350" b="1" i="0" u="none">
                          <a:solidFill>
                            <a:srgbClr val="DC2626"/>
                          </a:solidFill>
                          <a:latin typeface="Inter"/>
                        </a:rPr>
                        <a:t>Server B dimatikan manual 3 menit setelah link pulih → 19 mahasiswa tercatat di dua lokasi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157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04040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Total peserta</a:t>
                      </a:r>
                      <a:r>
                        <a:t>
</a:t>
                      </a:r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
         Lag replikasi</a:t>
                      </a:r>
                      <a:r>
                        <a:t>
</a:t>
                      </a:r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
         Dampak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Inter"/>
                        </a:rPr>
                        <a:t>774 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Inter"/>
                        </a:rPr>
                        <a:t>mahasiswa</a:t>
                      </a:r>
                      <a:r>
                        <a:rPr dirty="0"/>
                        <a:t>
</a:t>
                      </a:r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Inter"/>
                        </a:rPr>
                        <a:t>
         Server B 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Inter"/>
                        </a:rPr>
                        <a:t>tertinggal</a:t>
                      </a:r>
                      <a:r>
                        <a:rPr sz="1350" b="0" i="0" u="none" dirty="0">
                          <a:solidFill>
                            <a:srgbClr val="404040"/>
                          </a:solidFill>
                          <a:latin typeface="Inter"/>
                        </a:rPr>
                        <a:t> 12 </a:t>
                      </a:r>
                      <a:r>
                        <a:rPr sz="1350" b="0" i="0" u="none" dirty="0" err="1">
                          <a:solidFill>
                            <a:srgbClr val="404040"/>
                          </a:solidFill>
                          <a:latin typeface="Inter"/>
                        </a:rPr>
                        <a:t>menit</a:t>
                      </a:r>
                      <a:r>
                        <a:rPr dirty="0"/>
                        <a:t>
</a:t>
                      </a:r>
                      <a:r>
                        <a:rPr sz="1350" b="1" i="0" u="none" dirty="0">
                          <a:solidFill>
                            <a:srgbClr val="DC2626"/>
                          </a:solidFill>
                          <a:latin typeface="Inter"/>
                        </a:rPr>
                        <a:t>218 </a:t>
                      </a:r>
                      <a:r>
                        <a:rPr sz="1350" b="1" i="0" u="none" dirty="0" err="1">
                          <a:solidFill>
                            <a:srgbClr val="DC2626"/>
                          </a:solidFill>
                          <a:latin typeface="Inter"/>
                        </a:rPr>
                        <a:t>mahasiswa</a:t>
                      </a:r>
                      <a:r>
                        <a:rPr sz="1350" b="1" i="0" u="none" dirty="0">
                          <a:solidFill>
                            <a:srgbClr val="DC2626"/>
                          </a:solidFill>
                          <a:latin typeface="Inter"/>
                        </a:rPr>
                        <a:t> </a:t>
                      </a:r>
                      <a:r>
                        <a:rPr sz="1350" b="1" i="0" u="none" dirty="0" err="1">
                          <a:solidFill>
                            <a:srgbClr val="DC2626"/>
                          </a:solidFill>
                          <a:latin typeface="Inter"/>
                        </a:rPr>
                        <a:t>buka</a:t>
                      </a:r>
                      <a:r>
                        <a:rPr sz="1350" b="1" i="0" u="none" dirty="0">
                          <a:solidFill>
                            <a:srgbClr val="DC2626"/>
                          </a:solidFill>
                          <a:latin typeface="Inter"/>
                        </a:rPr>
                        <a:t> </a:t>
                      </a:r>
                      <a:r>
                        <a:rPr sz="1350" b="1" i="0" u="none" dirty="0" err="1">
                          <a:solidFill>
                            <a:srgbClr val="DC2626"/>
                          </a:solidFill>
                          <a:latin typeface="Inter"/>
                        </a:rPr>
                        <a:t>pengumuman</a:t>
                      </a:r>
                      <a:r>
                        <a:rPr sz="1350" b="1" i="0" u="none" dirty="0">
                          <a:solidFill>
                            <a:srgbClr val="DC2626"/>
                          </a:solidFill>
                          <a:latin typeface="Inter"/>
                        </a:rPr>
                        <a:t> via B (data </a:t>
                      </a:r>
                      <a:r>
                        <a:rPr sz="1350" b="1" i="0" u="none" dirty="0" err="1">
                          <a:solidFill>
                            <a:srgbClr val="DC2626"/>
                          </a:solidFill>
                          <a:latin typeface="Inter"/>
                        </a:rPr>
                        <a:t>basi</a:t>
                      </a:r>
                      <a:r>
                        <a:rPr sz="1350" b="1" i="0" u="none" dirty="0">
                          <a:solidFill>
                            <a:srgbClr val="DC2626"/>
                          </a:solidFill>
                          <a:latin typeface="Inter"/>
                        </a:rPr>
                        <a:t>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9600" y="142874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171717"/>
                </a:solidFill>
                <a:latin typeface="Inter"/>
              </a:rPr>
              <a:t>Tabel 2: Data </a:t>
            </a:r>
            <a:r>
              <a:rPr sz="3000" b="1" i="0" u="none" dirty="0" err="1">
                <a:solidFill>
                  <a:srgbClr val="171717"/>
                </a:solidFill>
                <a:latin typeface="Inter"/>
              </a:rPr>
              <a:t>Kejadian</a:t>
            </a:r>
            <a:r>
              <a:rPr sz="3000" b="1" i="0" u="none" dirty="0">
                <a:solidFill>
                  <a:srgbClr val="171717"/>
                </a:solidFill>
                <a:latin typeface="Inter"/>
              </a:rPr>
              <a:t> 2–4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4433887"/>
            <a:ext cx="7620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10062" y="1776412"/>
            <a:ext cx="35718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EA580C"/>
                </a:solidFill>
                <a:latin typeface="Inter"/>
              </a:rPr>
              <a:t>PEMBATAS BAGIAN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70771" y="2281237"/>
            <a:ext cx="3650456" cy="828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FAFAF9"/>
                </a:solidFill>
                <a:latin typeface="Inter"/>
              </a:rPr>
              <a:t>Bagian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83173" y="3262312"/>
            <a:ext cx="5225653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0" i="0" u="none">
                <a:solidFill>
                  <a:srgbClr val="A8A29E"/>
                </a:solidFill>
                <a:latin typeface="Inter"/>
              </a:rPr>
              <a:t>Urutan Perubahan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32609" y="4852987"/>
            <a:ext cx="472678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D6D3D1"/>
                </a:solidFill>
                <a:latin typeface="Inter"/>
              </a:rPr>
              <a:t>Dibawakan oleh Esar Fauzan · F55124092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332708"/>
            <a:ext cx="10972800" cy="10096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4951958"/>
            <a:ext cx="10972800" cy="6858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951958"/>
            <a:ext cx="57150" cy="685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71717"/>
                </a:solidFill>
                <a:latin typeface="Inter"/>
              </a:rPr>
              <a:t>1.1 Aturan Lamport Clock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1993671"/>
            <a:ext cx="13335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404040"/>
                </a:solidFill>
                <a:latin typeface="Inter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91766"/>
            <a:ext cx="11277600" cy="365670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404040"/>
                </a:solidFill>
                <a:latin typeface="Inter"/>
              </a:rPr>
              <a:t>Lokal:</a:t>
            </a:r>
            <a:r>
              <a:rPr sz="1800" b="0" i="0" u="none">
                <a:solidFill>
                  <a:srgbClr val="404040"/>
                </a:solidFill>
                <a:latin typeface="Inter"/>
              </a:rPr>
              <a:t> setiap kejadian lokal menaikkan nilai clock sebesar +1.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2511742"/>
            <a:ext cx="13335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404040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09837"/>
            <a:ext cx="11277600" cy="365670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404040"/>
                </a:solidFill>
                <a:latin typeface="Inter"/>
              </a:rPr>
              <a:t>Terima pesan:</a:t>
            </a:r>
            <a:r>
              <a:rPr sz="1800" b="0" i="0" u="none">
                <a:solidFill>
                  <a:srgbClr val="404040"/>
                </a:solidFill>
                <a:latin typeface="Inter"/>
              </a:rPr>
              <a:t> clock diset ke max(lokal, pengirim) + 1.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1262" y="3647033"/>
            <a:ext cx="9036843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Aturan ini menjamin: jika a → b, maka C(a) &lt; C(b).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50" y="5180558"/>
            <a:ext cx="112966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9A3412"/>
                </a:solidFill>
                <a:latin typeface="Inter"/>
              </a:rPr>
              <a:t>Nilai awal Varian 9 — Server A = 59 · Server B = 48.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24600" y="2928937"/>
            <a:ext cx="5257800" cy="1695450"/>
          </a:xfrm>
          <a:prstGeom prst="rect">
            <a:avLst/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1647825"/>
            <a:ext cx="1336178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945778" y="1647825"/>
            <a:ext cx="1554063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499842" y="1647825"/>
            <a:ext cx="2367557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324600" y="2928937"/>
            <a:ext cx="57150" cy="169545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2195512"/>
            <a:ext cx="1336178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945778" y="2195512"/>
            <a:ext cx="1554063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99842" y="2195512"/>
            <a:ext cx="2367557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2728912"/>
            <a:ext cx="1336178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945778" y="2728912"/>
            <a:ext cx="1554063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99842" y="2728912"/>
            <a:ext cx="2367557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9600" y="3262312"/>
            <a:ext cx="1336178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945778" y="3262312"/>
            <a:ext cx="1554063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99842" y="3262312"/>
            <a:ext cx="2367557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9600" y="3795712"/>
            <a:ext cx="1336178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945778" y="3795712"/>
            <a:ext cx="1554063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499842" y="3795712"/>
            <a:ext cx="2367557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9600" y="4329112"/>
            <a:ext cx="1336178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945778" y="4329112"/>
            <a:ext cx="1554063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499842" y="4329112"/>
            <a:ext cx="2367557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9600" y="4862512"/>
            <a:ext cx="1336178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945778" y="4862512"/>
            <a:ext cx="1554063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499842" y="4862512"/>
            <a:ext cx="2367557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09600" y="1152525"/>
          <a:ext cx="5257798" cy="3724275"/>
        </p:xfrm>
        <a:graphic>
          <a:graphicData uri="http://schemas.openxmlformats.org/drawingml/2006/table">
            <a:tbl>
              <a:tblPr/>
              <a:tblGrid>
                <a:gridCol w="1336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75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2039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71717"/>
                          </a:solidFill>
                          <a:latin typeface="Inter"/>
                        </a:rPr>
                        <a:t>Baris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71717"/>
                          </a:solidFill>
                          <a:latin typeface="Inter"/>
                        </a:rPr>
                        <a:t>Server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71717"/>
                          </a:solidFill>
                          <a:latin typeface="Inter"/>
                        </a:rPr>
                        <a:t>Nilai Lamport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039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Space Grotesk"/>
                        </a:rPr>
                        <a:t>49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039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Space Grotesk"/>
                        </a:rPr>
                        <a:t>60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2039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Space Grotesk"/>
                        </a:rPr>
                        <a:t>61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2039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EA580C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EA580C"/>
                          </a:solidFill>
                          <a:latin typeface="Inter"/>
                        </a:rPr>
                        <a:t>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EA580C"/>
                          </a:solidFill>
                          <a:latin typeface="Space Grotesk"/>
                        </a:rPr>
                        <a:t>62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2039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EA580C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EA580C"/>
                          </a:solidFill>
                          <a:latin typeface="Inter"/>
                        </a:rPr>
                        <a:t>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EA580C"/>
                          </a:solidFill>
                          <a:latin typeface="Space Grotesk"/>
                        </a:rPr>
                        <a:t>50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041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Space Grotesk"/>
                        </a:rPr>
                        <a:t>63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09600" y="4572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71717"/>
                </a:solidFill>
                <a:latin typeface="Inter"/>
              </a:rPr>
              <a:t>1.1 Hasil: 49 · 60 · 61 · 62 · 50 · 63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1750" y="2928937"/>
            <a:ext cx="5810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881337"/>
                </a:solidFill>
                <a:latin typeface="Inter"/>
              </a:rPr>
              <a:t>Penunjuk: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1750" y="3328987"/>
            <a:ext cx="52959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F1239"/>
                </a:solidFill>
                <a:latin typeface="Inter"/>
              </a:rPr>
              <a:t>Baris 4 (62) &gt; baris 5 (50) — sekilas tampak baris 4 "lebih baru".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1750" y="4052887"/>
            <a:ext cx="52959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F1239"/>
                </a:solidFill>
                <a:latin typeface="Inter"/>
              </a:rPr>
              <a:t>Tetapi Lamport tidak menangkap kausalitas, jadi urutan ini tidak bisa dipercaya.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025104"/>
            <a:ext cx="10972800" cy="7334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4709070"/>
            <a:ext cx="10972800" cy="895350"/>
          </a:xfrm>
          <a:prstGeom prst="rect">
            <a:avLst/>
          </a:prstGeom>
          <a:solidFill>
            <a:srgbClr val="FFF7ED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2025104"/>
            <a:ext cx="57150" cy="73342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71717"/>
                </a:solidFill>
                <a:latin typeface="Inter"/>
              </a:rPr>
              <a:t>1.2 Aturan Vector Clock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2253704"/>
            <a:ext cx="112966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3A8A"/>
                </a:solidFill>
                <a:latin typeface="Inter"/>
              </a:rPr>
              <a:t>Setiap server menyimpan vektor [A, B].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050" y="3065234"/>
            <a:ext cx="13335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404040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329"/>
            <a:ext cx="11277600" cy="365670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404040"/>
                </a:solidFill>
                <a:latin typeface="Inter"/>
              </a:rPr>
              <a:t>Lokal:</a:t>
            </a:r>
            <a:r>
              <a:rPr sz="1800" b="0" i="0" u="none">
                <a:solidFill>
                  <a:srgbClr val="404040"/>
                </a:solidFill>
                <a:latin typeface="Inter"/>
              </a:rPr>
              <a:t> naikkan komponen sendiri sebesar +1.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3583305"/>
            <a:ext cx="13335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404040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81400"/>
            <a:ext cx="11277600" cy="365670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404040"/>
                </a:solidFill>
                <a:latin typeface="Inter"/>
              </a:rPr>
              <a:t>Terima pesan:</a:t>
            </a:r>
            <a:r>
              <a:rPr sz="1800" b="0" i="0" u="none">
                <a:solidFill>
                  <a:srgbClr val="404040"/>
                </a:solidFill>
                <a:latin typeface="Inter"/>
              </a:rPr>
              <a:t> ambil maksimum tiap komponen, lalu naikkan komponen sendiri.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184546" y="5023395"/>
            <a:ext cx="1256109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9A3412"/>
                </a:solidFill>
                <a:latin typeface="Space Grotesk"/>
              </a:rPr>
              <a:t>Nilai awal Varian 9 — Server A = [25, 15] · Server B = [24, 19] · urutan elemen [A, B].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24600" y="2743200"/>
            <a:ext cx="5257800" cy="20669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1647825"/>
            <a:ext cx="1203275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12875" y="1647825"/>
            <a:ext cx="1399430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12306" y="1647825"/>
            <a:ext cx="2655093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324600" y="2743200"/>
            <a:ext cx="57150" cy="206692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610350" y="4133850"/>
            <a:ext cx="4743450" cy="9525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2195512"/>
            <a:ext cx="1203275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812875" y="2195512"/>
            <a:ext cx="139943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12306" y="2195512"/>
            <a:ext cx="2655093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" y="2728912"/>
            <a:ext cx="1203275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812875" y="2728912"/>
            <a:ext cx="139943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12306" y="2728912"/>
            <a:ext cx="2655093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3262312"/>
            <a:ext cx="1203275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812875" y="3262312"/>
            <a:ext cx="139943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12306" y="3262312"/>
            <a:ext cx="2655093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9600" y="3795712"/>
            <a:ext cx="1203275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812875" y="3795712"/>
            <a:ext cx="139943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12306" y="3795712"/>
            <a:ext cx="2655093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9600" y="4329112"/>
            <a:ext cx="1203275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812875" y="4329112"/>
            <a:ext cx="139943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12306" y="4329112"/>
            <a:ext cx="2655093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9600" y="4862512"/>
            <a:ext cx="1203275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812875" y="4862512"/>
            <a:ext cx="139943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12306" y="4862512"/>
            <a:ext cx="2655093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09600" y="1152525"/>
          <a:ext cx="5257798" cy="3724275"/>
        </p:xfrm>
        <a:graphic>
          <a:graphicData uri="http://schemas.openxmlformats.org/drawingml/2006/table">
            <a:tbl>
              <a:tblPr/>
              <a:tblGrid>
                <a:gridCol w="1203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9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50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2039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71717"/>
                          </a:solidFill>
                          <a:latin typeface="Inter"/>
                        </a:rPr>
                        <a:t>Baris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71717"/>
                          </a:solidFill>
                          <a:latin typeface="Inter"/>
                        </a:rPr>
                        <a:t>Server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71717"/>
                          </a:solidFill>
                          <a:latin typeface="Inter"/>
                        </a:rPr>
                        <a:t>Nilai Vector Clock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039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Space Grotesk"/>
                        </a:rPr>
                        <a:t>[24, 20]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039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Space Grotesk"/>
                        </a:rPr>
                        <a:t>[26, 20]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2039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Space Grotesk"/>
                        </a:rPr>
                        <a:t>[27, 20]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2039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EA580C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EA580C"/>
                          </a:solidFill>
                          <a:latin typeface="Inter"/>
                        </a:rPr>
                        <a:t>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EA580C"/>
                          </a:solidFill>
                          <a:latin typeface="Space Grotesk"/>
                        </a:rPr>
                        <a:t>[28, 20]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2039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EA580C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EA580C"/>
                          </a:solidFill>
                          <a:latin typeface="Inter"/>
                        </a:rPr>
                        <a:t>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EA580C"/>
                          </a:solidFill>
                          <a:latin typeface="Space Grotesk"/>
                        </a:rPr>
                        <a:t>[24, 21]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041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Space Grotesk"/>
                        </a:rPr>
                        <a:t>[28, 22]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09600" y="4572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71717"/>
                </a:solidFill>
                <a:latin typeface="Inter"/>
              </a:rPr>
              <a:t>1.2 Hasil: [28,20] vs [24,21]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0350" y="2971800"/>
            <a:ext cx="55816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1E40AF"/>
                </a:solidFill>
                <a:latin typeface="Inter"/>
              </a:rPr>
              <a:t>Baris 4 = [28, 20], baris 5 = [24, 21].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0350" y="3409950"/>
            <a:ext cx="48387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1E40AF"/>
                </a:solidFill>
                <a:latin typeface="Inter"/>
              </a:rPr>
              <a:t>Komponen A lebih besar di baris 4, tetapi komponen B lebih besar di baris 5.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0350" y="4286250"/>
            <a:ext cx="48387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1E3A8A"/>
                </a:solidFill>
                <a:latin typeface="Inter"/>
              </a:rPr>
              <a:t>→ tidak ada yang mendominasi.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62300" y="5362575"/>
            <a:ext cx="5867400" cy="119062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285976" y="2133600"/>
            <a:ext cx="5619898" cy="790575"/>
          </a:xfrm>
          <a:prstGeom prst="roundRect">
            <a:avLst>
              <a:gd name="adj" fmla="val 9638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285976" y="3305175"/>
            <a:ext cx="5619898" cy="790575"/>
          </a:xfrm>
          <a:prstGeom prst="roundRect">
            <a:avLst>
              <a:gd name="adj" fmla="val 9638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014364" y="304800"/>
            <a:ext cx="616327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525252"/>
                </a:solidFill>
                <a:latin typeface="Inter"/>
              </a:rPr>
              <a:t>1.3 Berurutan atau Concurrent?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875" y="4476750"/>
            <a:ext cx="111442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525252"/>
                </a:solidFill>
                <a:latin typeface="Inter"/>
              </a:rPr>
              <a:t>Tidak ada satu pun arah yang terpenuhi → kedua kejadian tidak saling mendahului.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38475" y="5591175"/>
            <a:ext cx="6115050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FFFFF"/>
                </a:solidFill>
                <a:latin typeface="Inter"/>
              </a:rPr>
              <a:t>CONCURRENT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83488" y="1285875"/>
            <a:ext cx="7024873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171717"/>
                </a:solidFill>
                <a:latin typeface="Inter"/>
              </a:rPr>
              <a:t>Uji terhadap dua arah: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8288" y="2286000"/>
            <a:ext cx="6415273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171717"/>
                </a:solidFill>
                <a:latin typeface="Space Grotesk"/>
              </a:rPr>
              <a:t>[28,20] ≤ [24,21] ? </a:t>
            </a:r>
            <a:r>
              <a:rPr sz="3000" b="1" i="0" u="none">
                <a:solidFill>
                  <a:srgbClr val="DC2626"/>
                </a:solidFill>
                <a:latin typeface="Space Grotesk"/>
              </a:rPr>
              <a:t>→ TIDAK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8288" y="3457575"/>
            <a:ext cx="6415273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171717"/>
                </a:solidFill>
                <a:latin typeface="Space Grotesk"/>
              </a:rPr>
              <a:t>[24,21] ≤ [28,20] ? </a:t>
            </a:r>
            <a:r>
              <a:rPr sz="3000" b="1" i="0" u="none">
                <a:solidFill>
                  <a:srgbClr val="DC2626"/>
                </a:solidFill>
                <a:latin typeface="Space Grotesk"/>
              </a:rPr>
              <a:t>→ TIDAK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514975"/>
            <a:ext cx="10972800" cy="733425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1381125"/>
            <a:ext cx="5334000" cy="382905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48400" y="1381125"/>
            <a:ext cx="5334000" cy="382905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1381125"/>
            <a:ext cx="533400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248400" y="1381125"/>
            <a:ext cx="53340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6096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71717"/>
                </a:solidFill>
                <a:latin typeface="Inter"/>
              </a:rPr>
              <a:t>1.4 Yang Benar vs Pilihan LWW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238125" y="5743575"/>
            <a:ext cx="126682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FFFFFF"/>
                </a:solidFill>
                <a:latin typeface="Inter"/>
              </a:rPr>
              <a:t>LWW membuang perubahan sah yang kalah dalam perlombaan timestamp.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24025"/>
            <a:ext cx="62007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66534"/>
                </a:solidFill>
                <a:latin typeface="Inter"/>
              </a:rPr>
              <a:t>Yang seharusnya dipertahankan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28850"/>
            <a:ext cx="590550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4532D"/>
                </a:solidFill>
                <a:latin typeface="Inter"/>
              </a:rPr>
              <a:t>Versi 3 — baris 4 (Server 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05100"/>
            <a:ext cx="48196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04040"/>
                </a:solidFill>
                <a:latin typeface="Inter"/>
              </a:rPr>
              <a:t>Karena berasal dari permohonan resmi (BWT-08 → TNV-03) dan berbasis versi 2 yang lebih baru.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1724025"/>
            <a:ext cx="56388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9A3412"/>
                </a:solidFill>
                <a:latin typeface="Inter"/>
              </a:rPr>
              <a:t>Yang dipilih LWW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2228850"/>
            <a:ext cx="563880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7C2D12"/>
                </a:solidFill>
                <a:latin typeface="Inter"/>
              </a:rPr>
              <a:t>Versi 2 — baris 5 (Server 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2705100"/>
            <a:ext cx="48196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04040"/>
                </a:solidFill>
                <a:latin typeface="Inter"/>
              </a:rPr>
              <a:t>Karena timestamp jam fisiknya paling besar, bukan karena lebih benar.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124200"/>
            <a:ext cx="10972800" cy="131445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1647825"/>
            <a:ext cx="1758701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368301" y="1647825"/>
            <a:ext cx="2045344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413646" y="1647825"/>
            <a:ext cx="3077616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1263" y="1647825"/>
            <a:ext cx="4091136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667250"/>
            <a:ext cx="10972800" cy="7429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2195512"/>
            <a:ext cx="1758701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368301" y="2195512"/>
            <a:ext cx="2045344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13646" y="2195512"/>
            <a:ext cx="3077616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491263" y="2195512"/>
            <a:ext cx="4091136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9600" y="2728912"/>
            <a:ext cx="1758701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368301" y="2728912"/>
            <a:ext cx="2045344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13646" y="2728912"/>
            <a:ext cx="3077616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91263" y="2728912"/>
            <a:ext cx="4091136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9600" y="3124200"/>
            <a:ext cx="57150" cy="131445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9600" y="4667250"/>
            <a:ext cx="57150" cy="7429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09600" y="1152525"/>
          <a:ext cx="10972797" cy="1590675"/>
        </p:xfrm>
        <a:graphic>
          <a:graphicData uri="http://schemas.openxmlformats.org/drawingml/2006/table">
            <a:tbl>
              <a:tblPr/>
              <a:tblGrid>
                <a:gridCol w="1758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5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7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91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22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71717"/>
                          </a:solidFill>
                          <a:latin typeface="Inter"/>
                        </a:rPr>
                        <a:t>Baris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71717"/>
                          </a:solidFill>
                          <a:latin typeface="Inter"/>
                        </a:rPr>
                        <a:t>Server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71717"/>
                          </a:solidFill>
                          <a:latin typeface="Inter"/>
                        </a:rPr>
                        <a:t>Waktu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71717"/>
                          </a:solidFill>
                          <a:latin typeface="Inter"/>
                        </a:rPr>
                        <a:t>Peristiwa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04040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04040"/>
                          </a:solidFill>
                          <a:latin typeface="Inter"/>
                        </a:rPr>
                        <a:t>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04040"/>
                          </a:solidFill>
                          <a:latin typeface="Space Grotesk"/>
                        </a:rPr>
                        <a:t>09:19:07.436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04040"/>
                          </a:solidFill>
                          <a:latin typeface="Inter"/>
                        </a:rPr>
                        <a:t>B membuat versi 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Space Grotesk"/>
                        </a:rPr>
                        <a:t>09:19:04.236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A menerima versi 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09600" y="4572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71717"/>
                </a:solidFill>
                <a:latin typeface="Inter"/>
              </a:rPr>
              <a:t>1.5 Bukti Clock Server B Bergeser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350" y="3352800"/>
            <a:ext cx="105537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91B1B"/>
                </a:solidFill>
                <a:latin typeface="Inter"/>
              </a:rPr>
              <a:t>Menurut catatan, Server B membuat versi 2 </a:t>
            </a:r>
            <a:r>
              <a:rPr sz="1500" b="1" i="0" u="none">
                <a:solidFill>
                  <a:srgbClr val="991B1B"/>
                </a:solidFill>
                <a:latin typeface="Inter"/>
              </a:rPr>
              <a:t>3.200 ms (≈ 3,2 detik) setelah</a:t>
            </a:r>
            <a:r>
              <a:rPr sz="1500" b="0" i="0" u="none">
                <a:solidFill>
                  <a:srgbClr val="991B1B"/>
                </a:solidFill>
                <a:latin typeface="Inter"/>
              </a:rPr>
              <a:t> Server A menerimanya — padahal pesan harus lebih dulu diterima sebelum dibuat salinannya. Selisih ini tidak mungkin secara kausalitas → jam Server B berada di depan.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5350" y="4895850"/>
            <a:ext cx="112966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Sebagai pembanding: jarak baris 4 → baris 5 hanya </a:t>
            </a:r>
            <a:r>
              <a:rPr sz="1500" b="1" i="0" u="none">
                <a:solidFill>
                  <a:srgbClr val="334155"/>
                </a:solidFill>
                <a:latin typeface="Inter"/>
              </a:rPr>
              <a:t>1.700 ms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, jauh lebih kecil dari pergeseran 3.200 ms.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304925"/>
            <a:ext cx="10972800" cy="73342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2895600"/>
            <a:ext cx="457200" cy="4572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3581400"/>
            <a:ext cx="457200" cy="4572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4267200"/>
            <a:ext cx="457200" cy="4572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71717"/>
                </a:solidFill>
                <a:latin typeface="Inter"/>
              </a:rPr>
              <a:t>1.6 Tanggapan Klaim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419350"/>
            <a:ext cx="115824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71717"/>
                </a:solidFill>
                <a:latin typeface="Inter"/>
              </a:rPr>
              <a:t>Tiga alasan klaim ini tidak menyelesaikan masalah: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33525"/>
            <a:ext cx="112776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FFFF"/>
                </a:solidFill>
                <a:latin typeface="Inter"/>
              </a:rPr>
              <a:t>Klaim operator: "Jam Server B tidak tepat, jadi cukup sinkronkan dengan NTP."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725" y="2895600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2971800"/>
            <a:ext cx="108966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404040"/>
                </a:solidFill>
                <a:latin typeface="Inter"/>
              </a:rPr>
              <a:t>Skew bukan penyebab akar.</a:t>
            </a:r>
            <a:r>
              <a:rPr sz="1500" b="0" i="0" u="none">
                <a:solidFill>
                  <a:srgbClr val="404040"/>
                </a:solidFill>
                <a:latin typeface="Inter"/>
              </a:rPr>
              <a:t> Masalahnya adalah memakai timestamp fisik untuk kejadian concurrent.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25" y="3581400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3657600"/>
            <a:ext cx="101917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404040"/>
                </a:solidFill>
                <a:latin typeface="Inter"/>
              </a:rPr>
              <a:t>NTP tidak menghapus konkurensi.</a:t>
            </a:r>
            <a:r>
              <a:rPr sz="1500" b="0" i="0" u="none">
                <a:solidFill>
                  <a:srgbClr val="404040"/>
                </a:solidFill>
                <a:latin typeface="Inter"/>
              </a:rPr>
              <a:t> Meski jam rapat, dua penulisan tetap bisa bersamaan.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725" y="4267200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4343400"/>
            <a:ext cx="108966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404040"/>
                </a:solidFill>
                <a:latin typeface="Inter"/>
              </a:rPr>
              <a:t>Butuh resolusi kausal.</a:t>
            </a:r>
            <a:r>
              <a:rPr sz="1500" b="0" i="0" u="none">
                <a:solidFill>
                  <a:srgbClr val="404040"/>
                </a:solidFill>
                <a:latin typeface="Inter"/>
              </a:rPr>
              <a:t> Yang diperlukan adalah mekanisme seperti vector clock, bukan penyelarasan jam.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24175" y="2790825"/>
            <a:ext cx="6343650" cy="1533525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04093" y="1066800"/>
            <a:ext cx="8383665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171717"/>
                </a:solidFill>
                <a:latin typeface="Inter"/>
              </a:rPr>
              <a:t>1.7 Cara Ukur (Cristian's Algorithm)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7718" y="1990725"/>
            <a:ext cx="10596562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404040"/>
                </a:solidFill>
                <a:latin typeface="Inter"/>
              </a:rPr>
              <a:t>Client mengirim permintaan waktu t1 ke server, lalu menerima balasan pada t4.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781550"/>
            <a:ext cx="9525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525252"/>
                </a:solidFill>
                <a:latin typeface="Inter"/>
              </a:rPr>
              <a:t>Dipakai putaran dengan RTT terkecil karena paling sedikit terpengaruh variasi jaringan.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35968" y="5505450"/>
            <a:ext cx="812006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1" i="0" u="none">
                <a:solidFill>
                  <a:srgbClr val="525252"/>
                </a:solidFill>
                <a:latin typeface="Inter"/>
              </a:rPr>
              <a:t>Ketidakpastian = setengah RTT terkecil, dicetak otomatis oleh program.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17031" y="3267075"/>
            <a:ext cx="6357937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Space Grotesk"/>
              </a:rPr>
              <a:t>offset = T − (t1 + t4) /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600" y="1724025"/>
            <a:ext cx="2636490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46090" y="1724025"/>
            <a:ext cx="2468909" cy="1905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2271712"/>
            <a:ext cx="263649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46090" y="2271712"/>
            <a:ext cx="2468909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2805112"/>
            <a:ext cx="263649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46090" y="2805112"/>
            <a:ext cx="2468909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9600" y="3338512"/>
            <a:ext cx="263649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46090" y="3338512"/>
            <a:ext cx="2468909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3871912"/>
            <a:ext cx="263649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46090" y="3871912"/>
            <a:ext cx="2468909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9600" y="4405312"/>
            <a:ext cx="263649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46090" y="4405312"/>
            <a:ext cx="2468909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09600" y="1228725"/>
          <a:ext cx="5105399" cy="3190875"/>
        </p:xfrm>
        <a:graphic>
          <a:graphicData uri="http://schemas.openxmlformats.org/drawingml/2006/table">
            <a:tbl>
              <a:tblPr/>
              <a:tblGrid>
                <a:gridCol w="2636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181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71717"/>
                          </a:solidFill>
                          <a:latin typeface="Inter"/>
                        </a:rPr>
                        <a:t>Parameter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71717"/>
                          </a:solidFill>
                          <a:latin typeface="Inter"/>
                        </a:rPr>
                        <a:t>Nilai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812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Putaran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Space Grotesk"/>
                        </a:rPr>
                        <a:t>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812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RTT median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Space Grotesk"/>
                        </a:rPr>
                        <a:t>5,9 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812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RTT terkecil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Space Grotesk"/>
                        </a:rPr>
                        <a:t>5,0 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181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EA580C"/>
                          </a:solidFill>
                          <a:latin typeface="Inter"/>
                        </a:rPr>
                        <a:t>Clock B − 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EA580C"/>
                          </a:solidFill>
                          <a:latin typeface="Space Grotesk"/>
                        </a:rPr>
                        <a:t>−24.357,6 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181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Inter"/>
                        </a:rPr>
                        <a:t>Ketidakpastian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04040"/>
                          </a:solidFill>
                          <a:latin typeface="Space Grotesk"/>
                        </a:rPr>
                        <a:t>± 2,5 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09600" y="4572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71717"/>
                </a:solidFill>
                <a:latin typeface="Inter"/>
              </a:rPr>
              <a:t>1.7 Hasil Ukur</a:t>
            </a:r>
          </a:p>
        </p:txBody>
      </p:sp>
      <p:pic>
        <p:nvPicPr>
          <p:cNvPr id="22" name="sek 1">
            <a:hlinkClick r:id="" action="ppaction://media"/>
            <a:extLst>
              <a:ext uri="{FF2B5EF4-FFF2-40B4-BE49-F238E27FC236}">
                <a16:creationId xmlns:a16="http://schemas.microsoft.com/office/drawing/2014/main" id="{0C40BFE0-CD4E-207B-CAC6-AA3FD2EEE4F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r="57278" b="70383"/>
          <a:stretch>
            <a:fillRect/>
          </a:stretch>
        </p:blipFill>
        <p:spPr>
          <a:xfrm>
            <a:off x="6275536" y="1439371"/>
            <a:ext cx="4934719" cy="2031131"/>
          </a:xfrm>
          <a:prstGeom prst="rect">
            <a:avLst/>
          </a:prstGeom>
        </p:spPr>
      </p:pic>
      <p:pic>
        <p:nvPicPr>
          <p:cNvPr id="23" name="sek 2">
            <a:hlinkClick r:id="" action="ppaction://media"/>
            <a:extLst>
              <a:ext uri="{FF2B5EF4-FFF2-40B4-BE49-F238E27FC236}">
                <a16:creationId xmlns:a16="http://schemas.microsoft.com/office/drawing/2014/main" id="{EABE766A-4F09-8184-120A-F5FD2CEF46B5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rcRect r="51664" b="69680"/>
          <a:stretch>
            <a:fillRect/>
          </a:stretch>
        </p:blipFill>
        <p:spPr>
          <a:xfrm>
            <a:off x="6275537" y="4090737"/>
            <a:ext cx="4934719" cy="1933543"/>
          </a:xfrm>
          <a:prstGeom prst="rect">
            <a:avLst/>
          </a:prstGeom>
        </p:spPr>
      </p:pic>
      <p:sp>
        <p:nvSpPr>
          <p:cNvPr id="25" name="Kotak Teks 24">
            <a:extLst>
              <a:ext uri="{FF2B5EF4-FFF2-40B4-BE49-F238E27FC236}">
                <a16:creationId xmlns:a16="http://schemas.microsoft.com/office/drawing/2014/main" id="{293E304D-23BC-AA30-88BA-C678DE89772F}"/>
              </a:ext>
            </a:extLst>
          </p:cNvPr>
          <p:cNvSpPr txBox="1"/>
          <p:nvPr/>
        </p:nvSpPr>
        <p:spPr>
          <a:xfrm>
            <a:off x="6275536" y="996982"/>
            <a:ext cx="4412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/>
              <a:t>Menjalankan server </a:t>
            </a:r>
            <a:r>
              <a:rPr lang="id-ID" dirty="0" err="1"/>
              <a:t>clock</a:t>
            </a:r>
            <a:r>
              <a:rPr lang="id-ID" dirty="0"/>
              <a:t> </a:t>
            </a:r>
            <a:r>
              <a:rPr lang="id-ID" dirty="0" err="1"/>
              <a:t>skew</a:t>
            </a:r>
            <a:r>
              <a:rPr lang="id-ID" dirty="0"/>
              <a:t> di Laptop B</a:t>
            </a:r>
          </a:p>
        </p:txBody>
      </p:sp>
      <p:sp>
        <p:nvSpPr>
          <p:cNvPr id="27" name="Kotak Teks 26">
            <a:extLst>
              <a:ext uri="{FF2B5EF4-FFF2-40B4-BE49-F238E27FC236}">
                <a16:creationId xmlns:a16="http://schemas.microsoft.com/office/drawing/2014/main" id="{51587CAB-8A09-74F2-6BAA-F7B0672D0FAD}"/>
              </a:ext>
            </a:extLst>
          </p:cNvPr>
          <p:cNvSpPr txBox="1"/>
          <p:nvPr/>
        </p:nvSpPr>
        <p:spPr>
          <a:xfrm>
            <a:off x="6275536" y="3687246"/>
            <a:ext cx="4596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/>
              <a:t>Menjalankan </a:t>
            </a:r>
            <a:r>
              <a:rPr lang="id-ID" dirty="0" err="1"/>
              <a:t>client</a:t>
            </a:r>
            <a:r>
              <a:rPr lang="id-ID" dirty="0"/>
              <a:t> dan hasil ukur di Laptop 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250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8933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943350"/>
            <a:ext cx="10972800" cy="245745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1228725"/>
            <a:ext cx="5334000" cy="1857375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48400" y="1228725"/>
            <a:ext cx="5334000" cy="1857375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3943350"/>
            <a:ext cx="76200" cy="24574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71717"/>
                </a:solidFill>
                <a:latin typeface="Inter"/>
              </a:rPr>
              <a:t>1.7 Butir (a) &amp; (b)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4287" y="4400550"/>
            <a:ext cx="122967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C2410C"/>
                </a:solidFill>
                <a:latin typeface="Inter"/>
              </a:rPr>
              <a:t>Jeda_min = 24.357,6 + (2 × 2,5)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14287" y="4829175"/>
            <a:ext cx="12296775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rgbClr val="EA580C"/>
                </a:solidFill>
                <a:latin typeface="Space Grotesk"/>
              </a:rPr>
              <a:t>24.362,6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14287" y="5743575"/>
            <a:ext cx="122967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9A3412"/>
                </a:solidFill>
                <a:latin typeface="Inter"/>
              </a:rPr>
              <a:t>(skew terukur + dua kali ketidakpastian)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1543050"/>
            <a:ext cx="58816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EA580C"/>
                </a:solidFill>
                <a:latin typeface="Inter"/>
              </a:rPr>
              <a:t>(a) Jarak Kejadian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1924050"/>
            <a:ext cx="5881687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71717"/>
                </a:solidFill>
                <a:latin typeface="Inter"/>
              </a:rPr>
              <a:t>Baris 4 → baris 5 = </a:t>
            </a:r>
            <a:r>
              <a:rPr sz="1800" b="1" i="0" u="none">
                <a:solidFill>
                  <a:srgbClr val="171717"/>
                </a:solidFill>
                <a:latin typeface="Inter"/>
              </a:rPr>
              <a:t>1.700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1543050"/>
            <a:ext cx="56292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EA580C"/>
                </a:solidFill>
                <a:latin typeface="Inter"/>
              </a:rPr>
              <a:t>(b) Besar Skew Terukur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1924050"/>
            <a:ext cx="4800600" cy="847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71717"/>
                </a:solidFill>
                <a:latin typeface="Inter"/>
              </a:rPr>
              <a:t>24.357,6 ms</a:t>
            </a:r>
            <a:r>
              <a:rPr sz="1800" b="0" i="0" u="none">
                <a:solidFill>
                  <a:srgbClr val="171717"/>
                </a:solidFill>
                <a:latin typeface="Inter"/>
              </a:rPr>
              <a:t> — jauh melampaui jarak kejadian → urutan timestamp tidak bisa dipercaya.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1248</Words>
  <Application>Microsoft Office PowerPoint</Application>
  <PresentationFormat>Layar Lebar</PresentationFormat>
  <Paragraphs>219</Paragraphs>
  <Slides>18</Slides>
  <Notes>0</Notes>
  <HiddenSlides>0</HiddenSlides>
  <MMClips>2</MMClips>
  <ScaleCrop>false</ScaleCrop>
  <HeadingPairs>
    <vt:vector size="6" baseType="variant">
      <vt:variant>
        <vt:lpstr>Font Dipakai</vt:lpstr>
      </vt:variant>
      <vt:variant>
        <vt:i4>4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18</vt:i4>
      </vt:variant>
    </vt:vector>
  </HeadingPairs>
  <TitlesOfParts>
    <vt:vector size="23" baseType="lpstr">
      <vt:lpstr>Space Grotesk</vt:lpstr>
      <vt:lpstr>Inter</vt:lpstr>
      <vt:lpstr>Calibri</vt:lpstr>
      <vt:lpstr>Arial</vt:lpstr>
      <vt:lpstr>Office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Esar Fauzan</dc:creator>
  <cp:keywords/>
  <dc:description>generated using python-pptx</dc:description>
  <cp:lastModifiedBy>Esar Fauzan</cp:lastModifiedBy>
  <cp:revision>2</cp:revision>
  <dcterms:created xsi:type="dcterms:W3CDTF">2013-01-27T09:14:16Z</dcterms:created>
  <dcterms:modified xsi:type="dcterms:W3CDTF">2026-10-15T13:30:10Z</dcterms:modified>
  <cp:category/>
</cp:coreProperties>
</file>