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3294608"/>
            <a:ext cx="1143000" cy="76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10290" y="1305966"/>
            <a:ext cx="237141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EA580C"/>
                </a:solidFill>
                <a:latin typeface="Segoe UI" panose="020B0502040204020203" pitchFamily="34" charset="0"/>
              </a:rPr>
              <a:t>SUB-CPMK 2 · EVALUASI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" y="1763166"/>
            <a:ext cx="1204912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Analisis</a:t>
            </a:r>
            <a:r>
              <a:rPr sz="42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42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Kegagalan</a:t>
            </a:r>
            <a:r>
              <a:rPr sz="42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42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Sistem</a:t>
            </a:r>
            <a:r>
              <a:rPr sz="42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42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Informasi</a:t>
            </a:r>
            <a:r>
              <a:rPr sz="42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42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Penempatan</a:t>
            </a:r>
            <a:r>
              <a:rPr sz="42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KKN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2174" y="3675608"/>
            <a:ext cx="616765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Studi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Kasus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Infrastruktur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Terdistribusi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— Universitas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Tadulako</a:t>
            </a:r>
            <a:endParaRPr sz="1800" b="0" i="0" u="none" dirty="0">
              <a:solidFill>
                <a:srgbClr val="525252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38594" y="4561433"/>
            <a:ext cx="211481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Kelompok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9 — Varian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4645" y="4980533"/>
            <a:ext cx="638270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Reinnher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Sakunab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· F55124110  |  Andi Besse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Opu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Tenri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Sompa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· F55124094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0785" y="5323433"/>
            <a:ext cx="531042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Esar Fauzan · F55124092  |  Muh. Dimas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Syahputra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· F55124120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86075"/>
            <a:ext cx="3732162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1762" y="2886075"/>
            <a:ext cx="1791444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33207" y="2886075"/>
            <a:ext cx="5449192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433762"/>
            <a:ext cx="373216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1762" y="3433762"/>
            <a:ext cx="17914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33207" y="3433762"/>
            <a:ext cx="544919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967162"/>
            <a:ext cx="373216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1762" y="3967162"/>
            <a:ext cx="17914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33207" y="3967162"/>
            <a:ext cx="544919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500562"/>
            <a:ext cx="373216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1762" y="4500562"/>
            <a:ext cx="17914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33207" y="4500562"/>
            <a:ext cx="544919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5033962"/>
            <a:ext cx="373216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1762" y="5033962"/>
            <a:ext cx="17914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33207" y="5033962"/>
            <a:ext cx="544919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128624"/>
              </p:ext>
            </p:extLst>
          </p:nvPr>
        </p:nvGraphicFramePr>
        <p:xfrm>
          <a:off x="609600" y="2390775"/>
          <a:ext cx="10972798" cy="2657475"/>
        </p:xfrm>
        <a:graphic>
          <a:graphicData uri="http://schemas.openxmlformats.org/drawingml/2006/table">
            <a:tbl>
              <a:tblPr/>
              <a:tblGrid>
                <a:gridCol w="373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Nama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Stambuk</a:t>
                      </a:r>
                      <a:endParaRPr sz="1350" b="1" i="0" u="none" dirty="0">
                        <a:solidFill>
                          <a:srgbClr val="171717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Bagian yang </a:t>
                      </a:r>
                      <a:r>
                        <a:rPr sz="1350" b="1" i="0" u="none" dirty="0" err="1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Dijelaskan</a:t>
                      </a:r>
                      <a:endParaRPr sz="1350" b="1" i="0" u="none" dirty="0">
                        <a:solidFill>
                          <a:srgbClr val="171717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Reinnher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Sakunab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F55124110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Bagian 2 (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sinkronisasi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&amp;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koordinasi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lang="id-ID"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Muh. Dimas Syahputra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F55124094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Bagian 1.3–1.5 (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analisis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kausal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Esar Fauzan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F55124092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Bagian 1.1–1.2 &amp; 1.6–1.7 (</a:t>
                      </a:r>
                      <a:r>
                        <a:rPr sz="1350" b="1" i="0" u="none" dirty="0" err="1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hitungan</a:t>
                      </a:r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 &amp; </a:t>
                      </a:r>
                      <a:r>
                        <a:rPr sz="1350" b="1" i="0" u="none" dirty="0" err="1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alat</a:t>
                      </a:r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ukur</a:t>
                      </a:r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Andi Besse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Opu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Tenri </a:t>
                      </a:r>
                      <a:r>
                        <a:rPr lang="id-ID"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Sompa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F55124120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Bagian 3 (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rekomendasi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" y="609600"/>
            <a:ext cx="527862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Anggota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&amp;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Pembagian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Tugas</a:t>
            </a:r>
            <a:endParaRPr sz="3000" b="1" i="0" u="none" dirty="0">
              <a:solidFill>
                <a:srgbClr val="171717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02577" y="5276850"/>
            <a:ext cx="63798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Pembagian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berdasarkan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tingkat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kesulitan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 &amp; </a:t>
            </a:r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beban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kerja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, </a:t>
            </a:r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bukan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penilaian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kemampuan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sz="1200" b="0" i="1" u="none" dirty="0" err="1">
                <a:solidFill>
                  <a:srgbClr val="737373"/>
                </a:solidFill>
                <a:latin typeface="Segoe UI" panose="020B0502040204020203" pitchFamily="34" charset="0"/>
              </a:rPr>
              <a:t>anggota</a:t>
            </a:r>
            <a:r>
              <a:rPr sz="1200" b="0" i="1" u="none" dirty="0">
                <a:solidFill>
                  <a:srgbClr val="737373"/>
                </a:solidFill>
                <a:latin typeface="Segoe U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334000"/>
            <a:ext cx="10972800" cy="9144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971675"/>
            <a:ext cx="5334000" cy="30575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1971675"/>
            <a:ext cx="5334000" cy="30575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334000"/>
            <a:ext cx="57150" cy="9144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433291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Kasus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dalam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Satu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Menit</a:t>
            </a:r>
            <a:endParaRPr sz="3000" b="1" i="0" u="none" dirty="0">
              <a:solidFill>
                <a:srgbClr val="17171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381125"/>
            <a:ext cx="7324569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Sistem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Informasi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Penempatan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KKN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berjalan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di dua server yang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saling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mereplikasi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5562600"/>
            <a:ext cx="10553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Kedua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server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menyimpan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replika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data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kuota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&amp;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penempatan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.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Sinkronisasi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dilakukan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secara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berkala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(eventual),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tanpa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koordinasi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eksplisit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saat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penulisan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bersamaan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286000"/>
            <a:ext cx="2007088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Server A — UPT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762250"/>
            <a:ext cx="174740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Unit </a:t>
            </a:r>
            <a:r>
              <a:rPr sz="1350" b="1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Pelaksana</a:t>
            </a:r>
            <a:r>
              <a:rPr sz="1350" b="1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Teknis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038475"/>
            <a:ext cx="4800600" cy="26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Melayani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pendaftaran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&amp;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permohonan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resmi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mahasiswa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286000"/>
            <a:ext cx="2201052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Server B — LPPM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762250"/>
            <a:ext cx="279493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Lembaga </a:t>
            </a:r>
            <a:r>
              <a:rPr sz="1350" b="1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Penelitian</a:t>
            </a:r>
            <a:r>
              <a:rPr sz="1350" b="1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&amp; </a:t>
            </a:r>
            <a:r>
              <a:rPr sz="1350" b="1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Pengabdian</a:t>
            </a:r>
            <a:endParaRPr sz="1350" b="1" i="0" u="none" dirty="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2725" y="3038475"/>
            <a:ext cx="3046155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Melayani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verifikasi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&amp;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pengumuman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00275"/>
            <a:ext cx="5334000" cy="2562225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200275"/>
            <a:ext cx="5334000" cy="2562225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543175"/>
            <a:ext cx="1152525" cy="238125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00275"/>
            <a:ext cx="5334000" cy="3810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4086225"/>
            <a:ext cx="47244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53200" y="2543175"/>
            <a:ext cx="1152525" cy="238125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2200275"/>
            <a:ext cx="5334000" cy="3810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53200" y="4086225"/>
            <a:ext cx="47244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4086225"/>
            <a:ext cx="4724400" cy="9525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53200" y="4086225"/>
            <a:ext cx="4724400" cy="9525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644221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Dua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Aturan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yang Jadi Akar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Masalah</a:t>
            </a:r>
            <a:endParaRPr sz="3000" b="1" i="0" u="none" dirty="0">
              <a:solidFill>
                <a:srgbClr val="171717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909" y="5962650"/>
            <a:ext cx="10124182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Kedua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aturan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ini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sah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secara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implementasi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,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tetapi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tidak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aman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untuk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operasi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concurrent pada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sistem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terdistribusi</a:t>
            </a:r>
            <a:r>
              <a:rPr sz="15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2581275"/>
            <a:ext cx="1019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BERMASALAH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33700"/>
            <a:ext cx="187237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831843"/>
                </a:solidFill>
                <a:latin typeface="Segoe UI" panose="020B0502040204020203" pitchFamily="34" charset="0"/>
              </a:rPr>
              <a:t>Aturan</a:t>
            </a:r>
            <a:r>
              <a:rPr sz="1800" b="1" i="0" u="none" dirty="0">
                <a:solidFill>
                  <a:srgbClr val="831843"/>
                </a:solidFill>
                <a:latin typeface="Segoe UI" panose="020B0502040204020203" pitchFamily="34" charset="0"/>
              </a:rPr>
              <a:t> 1 — LWW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2325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Konflik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antar-replika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diselesaikan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dengan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Last-Write-Wins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berbasis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timestamp jam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fisik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2581275"/>
            <a:ext cx="1019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BERMASALAH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2933700"/>
            <a:ext cx="304589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831843"/>
                </a:solidFill>
                <a:latin typeface="Segoe UI" panose="020B0502040204020203" pitchFamily="34" charset="0"/>
              </a:rPr>
              <a:t>Aturan</a:t>
            </a:r>
            <a:r>
              <a:rPr sz="1800" b="1" i="0" u="none" dirty="0">
                <a:solidFill>
                  <a:srgbClr val="831843"/>
                </a:solidFill>
                <a:latin typeface="Segoe UI" panose="020B0502040204020203" pitchFamily="34" charset="0"/>
              </a:rPr>
              <a:t> 2 — Cek </a:t>
            </a:r>
            <a:r>
              <a:rPr sz="1800" b="1" i="0" u="none" dirty="0" err="1">
                <a:solidFill>
                  <a:srgbClr val="831843"/>
                </a:solidFill>
                <a:latin typeface="Segoe UI" panose="020B0502040204020203" pitchFamily="34" charset="0"/>
              </a:rPr>
              <a:t>Kuota</a:t>
            </a:r>
            <a:r>
              <a:rPr sz="1800" b="1" i="0" u="none" dirty="0">
                <a:solidFill>
                  <a:srgbClr val="831843"/>
                </a:solidFill>
                <a:latin typeface="Segoe UI" panose="020B0502040204020203" pitchFamily="34" charset="0"/>
              </a:rPr>
              <a:t> Lokal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362325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Kuota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dicek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pada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replika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lokal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tanpa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mutual exclusion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antar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-server.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48150"/>
            <a:ext cx="32818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→ </a:t>
            </a:r>
            <a:r>
              <a:rPr sz="1350" b="1" i="0" u="none" dirty="0" err="1">
                <a:solidFill>
                  <a:srgbClr val="BE185D"/>
                </a:solidFill>
                <a:latin typeface="Segoe UI" panose="020B0502040204020203" pitchFamily="34" charset="0"/>
              </a:rPr>
              <a:t>Masalah</a:t>
            </a:r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: jam dua </a:t>
            </a:r>
            <a:r>
              <a:rPr sz="1350" b="1" i="0" u="none" dirty="0" err="1">
                <a:solidFill>
                  <a:srgbClr val="BE185D"/>
                </a:solidFill>
                <a:latin typeface="Segoe UI" panose="020B0502040204020203" pitchFamily="34" charset="0"/>
              </a:rPr>
              <a:t>mesin</a:t>
            </a:r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 </a:t>
            </a:r>
            <a:r>
              <a:rPr sz="1350" b="1" i="0" u="none" dirty="0" err="1">
                <a:solidFill>
                  <a:srgbClr val="BE185D"/>
                </a:solidFill>
                <a:latin typeface="Segoe UI" panose="020B0502040204020203" pitchFamily="34" charset="0"/>
              </a:rPr>
              <a:t>tidak</a:t>
            </a:r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 </a:t>
            </a:r>
            <a:r>
              <a:rPr sz="1350" b="1" i="0" u="none" dirty="0" err="1">
                <a:solidFill>
                  <a:srgbClr val="BE185D"/>
                </a:solidFill>
                <a:latin typeface="Segoe UI" panose="020B0502040204020203" pitchFamily="34" charset="0"/>
              </a:rPr>
              <a:t>identik</a:t>
            </a:r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4248150"/>
            <a:ext cx="44914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→ </a:t>
            </a:r>
            <a:r>
              <a:rPr sz="1350" b="1" i="0" u="none" dirty="0" err="1">
                <a:solidFill>
                  <a:srgbClr val="BE185D"/>
                </a:solidFill>
                <a:latin typeface="Segoe UI" panose="020B0502040204020203" pitchFamily="34" charset="0"/>
              </a:rPr>
              <a:t>Masalah</a:t>
            </a:r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: dua server </a:t>
            </a:r>
            <a:r>
              <a:rPr sz="1350" b="1" i="0" u="none" dirty="0" err="1">
                <a:solidFill>
                  <a:srgbClr val="BE185D"/>
                </a:solidFill>
                <a:latin typeface="Segoe UI" panose="020B0502040204020203" pitchFamily="34" charset="0"/>
              </a:rPr>
              <a:t>bisa</a:t>
            </a:r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 lolos </a:t>
            </a:r>
            <a:r>
              <a:rPr sz="1350" b="1" i="0" u="none" dirty="0" err="1">
                <a:solidFill>
                  <a:srgbClr val="BE185D"/>
                </a:solidFill>
                <a:latin typeface="Segoe UI" panose="020B0502040204020203" pitchFamily="34" charset="0"/>
              </a:rPr>
              <a:t>cek</a:t>
            </a:r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 </a:t>
            </a:r>
            <a:r>
              <a:rPr sz="1350" b="1" i="0" u="none" dirty="0" err="1">
                <a:solidFill>
                  <a:srgbClr val="BE185D"/>
                </a:solidFill>
                <a:latin typeface="Segoe UI" panose="020B0502040204020203" pitchFamily="34" charset="0"/>
              </a:rPr>
              <a:t>secara</a:t>
            </a:r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 </a:t>
            </a:r>
            <a:r>
              <a:rPr sz="1350" b="1" i="0" u="none" dirty="0" err="1">
                <a:solidFill>
                  <a:srgbClr val="BE185D"/>
                </a:solidFill>
                <a:latin typeface="Segoe UI" panose="020B0502040204020203" pitchFamily="34" charset="0"/>
              </a:rPr>
              <a:t>bersamaan</a:t>
            </a:r>
            <a:r>
              <a:rPr sz="1350" b="1" i="0" u="none" dirty="0">
                <a:solidFill>
                  <a:srgbClr val="BE185D"/>
                </a:solidFill>
                <a:latin typeface="Segoe U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334000"/>
            <a:ext cx="109728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800225"/>
            <a:ext cx="935682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45282" y="1800225"/>
            <a:ext cx="137160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16882" y="1800225"/>
            <a:ext cx="2063799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80682" y="1800225"/>
            <a:ext cx="6601717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5334000"/>
            <a:ext cx="38100" cy="5905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3479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45282" y="23479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16882" y="23479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0682" y="23479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28813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45282" y="28813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16882" y="28813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0682" y="28813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34147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45282" y="34147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16882" y="34147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80682" y="34147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600" y="39481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45282" y="39481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16882" y="39481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80682" y="39481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600" y="44815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45282" y="44815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16882" y="44815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80682" y="44815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9600" y="50149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545282" y="50149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16882" y="50149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80682" y="50149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09600" y="1304925"/>
          <a:ext cx="10972798" cy="3724275"/>
        </p:xfrm>
        <a:graphic>
          <a:graphicData uri="http://schemas.openxmlformats.org/drawingml/2006/table">
            <a:tbl>
              <a:tblPr/>
              <a:tblGrid>
                <a:gridCol w="935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1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Waktu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Aksi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09:18:56.236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Buka data Y.T. (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09:19:04.236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Terima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replika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09:19:04.586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Buka data Y.T. (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09:19:05.736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Simpan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3: BWT-08 → TNV-03 (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berdasar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09:19:07.436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Simpan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2: DPL &amp;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Kelompok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30 (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berdasar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09:19:10.336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Terima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replika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09600" y="457200"/>
            <a:ext cx="4155368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Tabel 1: Log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Kejadian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" y="5486400"/>
            <a:ext cx="8823569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Baris 4 &amp; 5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disorot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: dua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penulisan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bersamaan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yang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kemudian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berebut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kemenangan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di </a:t>
            </a:r>
            <a:r>
              <a:rPr sz="1500" b="0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mekanisme</a:t>
            </a:r>
            <a:r>
              <a:rPr sz="1500" b="0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LWW.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928812"/>
            <a:ext cx="164589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55490" y="1928812"/>
            <a:ext cx="274320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98690" y="1928812"/>
            <a:ext cx="6583709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67075"/>
            <a:ext cx="16458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55490" y="3267075"/>
            <a:ext cx="27432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98690" y="3267075"/>
            <a:ext cx="65837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791075"/>
            <a:ext cx="16458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55490" y="4791075"/>
            <a:ext cx="27432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98690" y="4791075"/>
            <a:ext cx="65837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6105525"/>
            <a:ext cx="16458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55490" y="6105525"/>
            <a:ext cx="27432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98690" y="6105525"/>
            <a:ext cx="65837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511853"/>
              </p:ext>
            </p:extLst>
          </p:nvPr>
        </p:nvGraphicFramePr>
        <p:xfrm>
          <a:off x="609600" y="609599"/>
          <a:ext cx="10972799" cy="6467475"/>
        </p:xfrm>
        <a:graphic>
          <a:graphicData uri="http://schemas.openxmlformats.org/drawingml/2006/table">
            <a:tbl>
              <a:tblPr/>
              <a:tblGrid>
                <a:gridCol w="164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157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Kejadian</a:t>
                      </a:r>
                      <a:endParaRPr sz="1350" b="1" i="0" u="none" dirty="0">
                        <a:solidFill>
                          <a:srgbClr val="171717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Nilai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Lokasi /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kuota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
        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Penambahan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
         Jeda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replikasi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BWS-02 (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Kec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. Banawa Selatan) ·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kuota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15 ·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terisi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10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
         Server A +5 · Server B +4</a:t>
                      </a:r>
                      <a:r>
                        <a:rPr dirty="0"/>
                        <a:t>
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≈ 2,0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detik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→ 10 + 5 + 4 = 19 &gt; 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Link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antargedung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
         Timeout heartbeat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
         Coordinator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Putus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7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menit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
         6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detik</a:t>
                      </a:r>
                      <a:r>
                        <a:rPr dirty="0"/>
                        <a:t>
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Server B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dimatikan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manual 3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menit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setelah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link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pulih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→ 19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mahasiswa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tercatat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di dua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lokasi</a:t>
                      </a:r>
                      <a:endParaRPr sz="1350" b="1" i="0" u="none" dirty="0">
                        <a:solidFill>
                          <a:srgbClr val="DC2626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Total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peserta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
         Lag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replikasi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
        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Dampak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774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mahasiswa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
         Server B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tertinggal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12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menit</a:t>
                      </a:r>
                      <a:r>
                        <a:rPr dirty="0"/>
                        <a:t>
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218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mahasiswa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buka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pengumuman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via B (data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basi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142874"/>
            <a:ext cx="474367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Tabel 2: Data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Kejadian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2–4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4433887"/>
            <a:ext cx="762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4776" y="1776412"/>
            <a:ext cx="214244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EA580C"/>
                </a:solidFill>
                <a:latin typeface="Segoe UI" panose="020B0502040204020203" pitchFamily="34" charset="0"/>
              </a:rPr>
              <a:t>PEMBATAS BAGIAN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6157" y="2281237"/>
            <a:ext cx="2819683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AFAF9"/>
                </a:solidFill>
                <a:latin typeface="Segoe UI" panose="020B0502040204020203" pitchFamily="34" charset="0"/>
              </a:rP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4534" y="3262312"/>
            <a:ext cx="3682931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0" i="0" u="none" dirty="0" err="1">
                <a:solidFill>
                  <a:srgbClr val="A8A29E"/>
                </a:solidFill>
                <a:latin typeface="Segoe UI" panose="020B0502040204020203" pitchFamily="34" charset="0"/>
              </a:rPr>
              <a:t>Urutan</a:t>
            </a:r>
            <a:r>
              <a:rPr sz="3600" b="0" i="0" u="none" dirty="0">
                <a:solidFill>
                  <a:srgbClr val="A8A29E"/>
                </a:solidFill>
                <a:latin typeface="Segoe UI" panose="020B0502040204020203" pitchFamily="34" charset="0"/>
              </a:rPr>
              <a:t> </a:t>
            </a:r>
            <a:r>
              <a:rPr sz="3600" b="0" i="0" u="none" dirty="0" err="1">
                <a:solidFill>
                  <a:srgbClr val="A8A29E"/>
                </a:solidFill>
                <a:latin typeface="Segoe UI" panose="020B0502040204020203" pitchFamily="34" charset="0"/>
              </a:rPr>
              <a:t>Perubahan</a:t>
            </a:r>
            <a:endParaRPr sz="3600" b="0" i="0" u="none" dirty="0">
              <a:solidFill>
                <a:srgbClr val="A8A29E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63185" y="4852987"/>
            <a:ext cx="346562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D6D3D1"/>
                </a:solidFill>
                <a:latin typeface="Segoe UI" panose="020B0502040204020203" pitchFamily="34" charset="0"/>
              </a:rPr>
              <a:t>Dibawakan</a:t>
            </a:r>
            <a:r>
              <a:rPr sz="1500" b="0" i="0" u="none" dirty="0">
                <a:solidFill>
                  <a:srgbClr val="D6D3D1"/>
                </a:solidFill>
                <a:latin typeface="Segoe UI" panose="020B0502040204020203" pitchFamily="34" charset="0"/>
              </a:rPr>
              <a:t> oleh Esar Fauzan · F55124092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332708"/>
            <a:ext cx="10972800" cy="10096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951958"/>
            <a:ext cx="10972800" cy="6858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951958"/>
            <a:ext cx="57150" cy="685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4631268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1.1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Aturan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Lamport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993671"/>
            <a:ext cx="9457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1766"/>
            <a:ext cx="6343275" cy="331181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Lokal: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setiap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kejadian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lokal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menaikkan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nilai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clock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sebesar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+1.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511742"/>
            <a:ext cx="9457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09837"/>
            <a:ext cx="5638980" cy="331181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Terima</a:t>
            </a:r>
            <a:r>
              <a:rPr sz="18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pesan</a:t>
            </a:r>
            <a:r>
              <a:rPr sz="18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: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clock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diset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ke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max(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lokal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,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pengirim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) + 1.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1262" y="3647033"/>
            <a:ext cx="722819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Aturan</a:t>
            </a:r>
            <a:r>
              <a:rPr sz="2400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ini</a:t>
            </a:r>
            <a:r>
              <a:rPr sz="2400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menjamin</a:t>
            </a:r>
            <a:r>
              <a:rPr sz="2400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: </a:t>
            </a:r>
            <a:r>
              <a:rPr sz="2400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jika</a:t>
            </a:r>
            <a:r>
              <a:rPr sz="2400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a → b, </a:t>
            </a:r>
            <a:r>
              <a:rPr sz="2400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maka</a:t>
            </a:r>
            <a:r>
              <a:rPr sz="2400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C(a) &lt; C(b).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5180558"/>
            <a:ext cx="463703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Nilai </a:t>
            </a:r>
            <a:r>
              <a:rPr sz="1500" b="1" i="0" u="none" dirty="0" err="1">
                <a:solidFill>
                  <a:srgbClr val="9A3412"/>
                </a:solidFill>
                <a:latin typeface="Segoe UI" panose="020B0502040204020203" pitchFamily="34" charset="0"/>
              </a:rPr>
              <a:t>awal</a:t>
            </a:r>
            <a:r>
              <a:rPr sz="1500" b="1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 Varian 9 — Server A = 59 · Server B = 48.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24600" y="2928937"/>
            <a:ext cx="5257800" cy="1695450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647825"/>
            <a:ext cx="1336178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945778" y="1647825"/>
            <a:ext cx="1554063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99842" y="1647825"/>
            <a:ext cx="2367557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24600" y="2928937"/>
            <a:ext cx="57150" cy="16954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1955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45778" y="21955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99842" y="21955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7289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45778" y="27289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99842" y="27289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32623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45778" y="32623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99842" y="32623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37957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45778" y="37957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99842" y="37957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600" y="43291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45778" y="43291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99842" y="43291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600" y="48625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45778" y="48625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99842" y="48625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09600" y="1152525"/>
          <a:ext cx="5257798" cy="3724275"/>
        </p:xfrm>
        <a:graphic>
          <a:graphicData uri="http://schemas.openxmlformats.org/drawingml/2006/table">
            <a:tbl>
              <a:tblPr/>
              <a:tblGrid>
                <a:gridCol w="1336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7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Baris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Nilai Lamport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61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62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09600" y="457200"/>
            <a:ext cx="598561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1.1 Hasil: 49 · 60 · 61 · 62 · 50 · 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0" y="2928937"/>
            <a:ext cx="99604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881337"/>
                </a:solidFill>
                <a:latin typeface="Segoe UI" panose="020B0502040204020203" pitchFamily="34" charset="0"/>
              </a:rPr>
              <a:t>Penunjuk</a:t>
            </a:r>
            <a:r>
              <a:rPr sz="1650" b="1" i="0" u="none" dirty="0">
                <a:solidFill>
                  <a:srgbClr val="881337"/>
                </a:solidFill>
                <a:latin typeface="Segoe UI" panose="020B0502040204020203" pitchFamily="34" charset="0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3328987"/>
            <a:ext cx="52959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Baris 4 (62) &gt; baris 5 (50) —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sekilas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tampak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baris 4 "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lebih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baru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".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4052887"/>
            <a:ext cx="52959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Tetapi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Lamport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tidak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menangkap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kausalitas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,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jadi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urutan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ini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tidak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bisa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F1239"/>
                </a:solidFill>
                <a:latin typeface="Segoe UI" panose="020B0502040204020203" pitchFamily="34" charset="0"/>
              </a:rPr>
              <a:t>dipercaya</a:t>
            </a:r>
            <a:r>
              <a:rPr sz="1500" b="0" i="0" u="none" dirty="0">
                <a:solidFill>
                  <a:srgbClr val="9F1239"/>
                </a:solidFill>
                <a:latin typeface="Segoe U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025104"/>
            <a:ext cx="10972800" cy="7334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709070"/>
            <a:ext cx="10972800" cy="89535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025104"/>
            <a:ext cx="57150" cy="7334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424744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1.2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Aturan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Vector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253704"/>
            <a:ext cx="425167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1E3A8A"/>
                </a:solidFill>
                <a:latin typeface="Segoe UI" panose="020B0502040204020203" pitchFamily="34" charset="0"/>
              </a:rPr>
              <a:t>Setiap</a:t>
            </a:r>
            <a:r>
              <a:rPr sz="1800" b="1" i="0" u="none" dirty="0">
                <a:solidFill>
                  <a:srgbClr val="1E3A8A"/>
                </a:solidFill>
                <a:latin typeface="Segoe UI" panose="020B0502040204020203" pitchFamily="34" charset="0"/>
              </a:rPr>
              <a:t> server </a:t>
            </a:r>
            <a:r>
              <a:rPr sz="1800" b="1" i="0" u="none" dirty="0" err="1">
                <a:solidFill>
                  <a:srgbClr val="1E3A8A"/>
                </a:solidFill>
                <a:latin typeface="Segoe UI" panose="020B0502040204020203" pitchFamily="34" charset="0"/>
              </a:rPr>
              <a:t>menyimpan</a:t>
            </a:r>
            <a:r>
              <a:rPr sz="1800" b="1" i="0" u="none" dirty="0">
                <a:solidFill>
                  <a:srgbClr val="1E3A8A"/>
                </a:solidFill>
                <a:latin typeface="Segoe UI" panose="020B0502040204020203" pitchFamily="34" charset="0"/>
              </a:rPr>
              <a:t> </a:t>
            </a:r>
            <a:r>
              <a:rPr sz="1800" b="1" i="0" u="none" dirty="0" err="1">
                <a:solidFill>
                  <a:srgbClr val="1E3A8A"/>
                </a:solidFill>
                <a:latin typeface="Segoe UI" panose="020B0502040204020203" pitchFamily="34" charset="0"/>
              </a:rPr>
              <a:t>vektor</a:t>
            </a:r>
            <a:r>
              <a:rPr sz="1800" b="1" i="0" u="none" dirty="0">
                <a:solidFill>
                  <a:srgbClr val="1E3A8A"/>
                </a:solidFill>
                <a:latin typeface="Segoe UI" panose="020B0502040204020203" pitchFamily="34" charset="0"/>
              </a:rPr>
              <a:t> [A, B].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065234"/>
            <a:ext cx="9457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329"/>
            <a:ext cx="4743478" cy="331181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Lokal: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naikkan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komponen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sendiri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sebesar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+1.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583305"/>
            <a:ext cx="9457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81400"/>
            <a:ext cx="8295348" cy="331181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Terima</a:t>
            </a:r>
            <a:r>
              <a:rPr sz="18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pesan</a:t>
            </a:r>
            <a:r>
              <a:rPr sz="18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: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ambil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maksimum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tiap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komponen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,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lalu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naikkan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komponen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sendiri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1521" y="5023395"/>
            <a:ext cx="8368958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Nilai </a:t>
            </a:r>
            <a:r>
              <a:rPr sz="1650" b="1" i="0" u="none" dirty="0" err="1">
                <a:solidFill>
                  <a:srgbClr val="9A3412"/>
                </a:solidFill>
                <a:latin typeface="Segoe UI" panose="020B0502040204020203" pitchFamily="34" charset="0"/>
              </a:rPr>
              <a:t>awal</a:t>
            </a:r>
            <a:r>
              <a:rPr sz="1650" b="1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 Varian 9 — Server A = [25, 15] · Server B = [24, 19] · </a:t>
            </a:r>
            <a:r>
              <a:rPr sz="1650" b="1" i="0" u="none" dirty="0" err="1">
                <a:solidFill>
                  <a:srgbClr val="9A3412"/>
                </a:solidFill>
                <a:latin typeface="Segoe UI" panose="020B0502040204020203" pitchFamily="34" charset="0"/>
              </a:rPr>
              <a:t>urutan</a:t>
            </a:r>
            <a:r>
              <a:rPr sz="1650" b="1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 </a:t>
            </a:r>
            <a:r>
              <a:rPr sz="1650" b="1" i="0" u="none" dirty="0" err="1">
                <a:solidFill>
                  <a:srgbClr val="9A3412"/>
                </a:solidFill>
                <a:latin typeface="Segoe UI" panose="020B0502040204020203" pitchFamily="34" charset="0"/>
              </a:rPr>
              <a:t>elemen</a:t>
            </a:r>
            <a:r>
              <a:rPr sz="1650" b="1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 [A, B].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24600" y="2743200"/>
            <a:ext cx="5257800" cy="20669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647825"/>
            <a:ext cx="1203275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12875" y="1647825"/>
            <a:ext cx="139943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12306" y="1647825"/>
            <a:ext cx="2655093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24600" y="2743200"/>
            <a:ext cx="57150" cy="20669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10350" y="4133850"/>
            <a:ext cx="4743450" cy="9525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1955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12875" y="21955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12306" y="21955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27289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2875" y="27289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12306" y="27289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32623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12875" y="32623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12306" y="32623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37957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12875" y="37957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12306" y="37957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600" y="43291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12875" y="43291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12306" y="43291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600" y="48625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12875" y="48625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2306" y="48625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9600" y="1152525"/>
          <a:ext cx="5257798" cy="3724275"/>
        </p:xfrm>
        <a:graphic>
          <a:graphicData uri="http://schemas.openxmlformats.org/drawingml/2006/table">
            <a:tbl>
              <a:tblPr/>
              <a:tblGrid>
                <a:gridCol w="120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5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Baris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Nilai Vector Clock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[24, 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[26, 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[27, 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[28, 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[24, 21]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[28, 22]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9600" y="457200"/>
            <a:ext cx="4890762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1.2 Hasil: [28,20] vs [24,21]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2971800"/>
            <a:ext cx="2987036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1E40AF"/>
                </a:solidFill>
                <a:latin typeface="Segoe UI" panose="020B0502040204020203" pitchFamily="34" charset="0"/>
              </a:rPr>
              <a:t>Baris 4 = [28, 20], baris 5 = [24, 21].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3409950"/>
            <a:ext cx="48387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1E40AF"/>
                </a:solidFill>
                <a:latin typeface="Segoe UI" panose="020B0502040204020203" pitchFamily="34" charset="0"/>
              </a:rPr>
              <a:t>Komponen</a:t>
            </a:r>
            <a:r>
              <a:rPr sz="1500" b="0" i="0" u="none" dirty="0">
                <a:solidFill>
                  <a:srgbClr val="1E40AF"/>
                </a:solidFill>
                <a:latin typeface="Segoe UI" panose="020B0502040204020203" pitchFamily="34" charset="0"/>
              </a:rPr>
              <a:t> A </a:t>
            </a:r>
            <a:r>
              <a:rPr sz="1500" b="0" i="0" u="none" dirty="0" err="1">
                <a:solidFill>
                  <a:srgbClr val="1E40AF"/>
                </a:solidFill>
                <a:latin typeface="Segoe UI" panose="020B0502040204020203" pitchFamily="34" charset="0"/>
              </a:rPr>
              <a:t>lebih</a:t>
            </a:r>
            <a:r>
              <a:rPr sz="1500" b="0" i="0" u="none" dirty="0">
                <a:solidFill>
                  <a:srgbClr val="1E40AF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1E40AF"/>
                </a:solidFill>
                <a:latin typeface="Segoe UI" panose="020B0502040204020203" pitchFamily="34" charset="0"/>
              </a:rPr>
              <a:t>besar</a:t>
            </a:r>
            <a:r>
              <a:rPr sz="1500" b="0" i="0" u="none" dirty="0">
                <a:solidFill>
                  <a:srgbClr val="1E40AF"/>
                </a:solidFill>
                <a:latin typeface="Segoe UI" panose="020B0502040204020203" pitchFamily="34" charset="0"/>
              </a:rPr>
              <a:t> di baris 4, </a:t>
            </a:r>
            <a:r>
              <a:rPr sz="1500" b="0" i="0" u="none" dirty="0" err="1">
                <a:solidFill>
                  <a:srgbClr val="1E40AF"/>
                </a:solidFill>
                <a:latin typeface="Segoe UI" panose="020B0502040204020203" pitchFamily="34" charset="0"/>
              </a:rPr>
              <a:t>tetapi</a:t>
            </a:r>
            <a:r>
              <a:rPr sz="1500" b="0" i="0" u="none" dirty="0">
                <a:solidFill>
                  <a:srgbClr val="1E40AF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1E40AF"/>
                </a:solidFill>
                <a:latin typeface="Segoe UI" panose="020B0502040204020203" pitchFamily="34" charset="0"/>
              </a:rPr>
              <a:t>komponen</a:t>
            </a:r>
            <a:r>
              <a:rPr sz="1500" b="0" i="0" u="none" dirty="0">
                <a:solidFill>
                  <a:srgbClr val="1E40AF"/>
                </a:solidFill>
                <a:latin typeface="Segoe UI" panose="020B0502040204020203" pitchFamily="34" charset="0"/>
              </a:rPr>
              <a:t> B </a:t>
            </a:r>
            <a:r>
              <a:rPr sz="1500" b="0" i="0" u="none" dirty="0" err="1">
                <a:solidFill>
                  <a:srgbClr val="1E40AF"/>
                </a:solidFill>
                <a:latin typeface="Segoe UI" panose="020B0502040204020203" pitchFamily="34" charset="0"/>
              </a:rPr>
              <a:t>lebih</a:t>
            </a:r>
            <a:r>
              <a:rPr sz="1500" b="0" i="0" u="none" dirty="0">
                <a:solidFill>
                  <a:srgbClr val="1E40AF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1E40AF"/>
                </a:solidFill>
                <a:latin typeface="Segoe UI" panose="020B0502040204020203" pitchFamily="34" charset="0"/>
              </a:rPr>
              <a:t>besar</a:t>
            </a:r>
            <a:r>
              <a:rPr sz="1500" b="0" i="0" u="none" dirty="0">
                <a:solidFill>
                  <a:srgbClr val="1E40AF"/>
                </a:solidFill>
                <a:latin typeface="Segoe UI" panose="020B0502040204020203" pitchFamily="34" charset="0"/>
              </a:rPr>
              <a:t> di baris 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0350" y="4286250"/>
            <a:ext cx="4838700" cy="26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 dirty="0">
                <a:solidFill>
                  <a:srgbClr val="1E3A8A"/>
                </a:solidFill>
                <a:latin typeface="Segoe UI" panose="020B0502040204020203" pitchFamily="34" charset="0"/>
              </a:rPr>
              <a:t>→ </a:t>
            </a:r>
            <a:r>
              <a:rPr sz="1500" b="1" i="0" u="none" dirty="0" err="1">
                <a:solidFill>
                  <a:srgbClr val="1E3A8A"/>
                </a:solidFill>
                <a:latin typeface="Segoe UI" panose="020B0502040204020203" pitchFamily="34" charset="0"/>
              </a:rPr>
              <a:t>tidak</a:t>
            </a:r>
            <a:r>
              <a:rPr sz="1500" b="1" i="0" u="none" dirty="0">
                <a:solidFill>
                  <a:srgbClr val="1E3A8A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1E3A8A"/>
                </a:solidFill>
                <a:latin typeface="Segoe UI" panose="020B0502040204020203" pitchFamily="34" charset="0"/>
              </a:rPr>
              <a:t>ada</a:t>
            </a:r>
            <a:r>
              <a:rPr sz="1500" b="1" i="0" u="none" dirty="0">
                <a:solidFill>
                  <a:srgbClr val="1E3A8A"/>
                </a:solidFill>
                <a:latin typeface="Segoe UI" panose="020B0502040204020203" pitchFamily="34" charset="0"/>
              </a:rPr>
              <a:t> yang </a:t>
            </a:r>
            <a:r>
              <a:rPr sz="1500" b="1" i="0" u="none" dirty="0" err="1">
                <a:solidFill>
                  <a:srgbClr val="1E3A8A"/>
                </a:solidFill>
                <a:latin typeface="Segoe UI" panose="020B0502040204020203" pitchFamily="34" charset="0"/>
              </a:rPr>
              <a:t>mendominasi</a:t>
            </a:r>
            <a:r>
              <a:rPr sz="1500" b="1" i="0" u="none" dirty="0">
                <a:solidFill>
                  <a:srgbClr val="1E3A8A"/>
                </a:solidFill>
                <a:latin typeface="Segoe U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62300" y="5362575"/>
            <a:ext cx="5867400" cy="11906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85976" y="2133600"/>
            <a:ext cx="5619898" cy="790575"/>
          </a:xfrm>
          <a:prstGeom prst="roundRect">
            <a:avLst>
              <a:gd name="adj" fmla="val 96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85976" y="3305175"/>
            <a:ext cx="5619898" cy="790575"/>
          </a:xfrm>
          <a:prstGeom prst="roundRect">
            <a:avLst>
              <a:gd name="adj" fmla="val 96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37624" y="304800"/>
            <a:ext cx="451674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1.3 </a:t>
            </a:r>
            <a:r>
              <a:rPr sz="2400" b="1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Berurutan</a:t>
            </a:r>
            <a:r>
              <a:rPr sz="2400" b="1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2400" b="1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atau</a:t>
            </a:r>
            <a:r>
              <a:rPr sz="2400" b="1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Concurrent?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1227" y="4476750"/>
            <a:ext cx="84095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Tidak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ada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satu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pun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arah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yang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terpenuhi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→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kedua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kejadian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tidak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saling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mendahului</a:t>
            </a:r>
            <a:r>
              <a:rPr sz="18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8475" y="5591175"/>
            <a:ext cx="61150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CONCURRENT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1911" y="1285875"/>
            <a:ext cx="402802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Uji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terhadap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dua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arah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8288" y="2286000"/>
            <a:ext cx="641527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[28,20] ≤ [24,21] ? </a:t>
            </a:r>
            <a:r>
              <a:rPr sz="3000" b="1" i="0" u="none" dirty="0">
                <a:solidFill>
                  <a:srgbClr val="DC2626"/>
                </a:solidFill>
                <a:latin typeface="Segoe UI" panose="020B0502040204020203" pitchFamily="34" charset="0"/>
              </a:rPr>
              <a:t>→ TIDAK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8288" y="3457575"/>
            <a:ext cx="641527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[24,21] ≤ [28,20] ? </a:t>
            </a:r>
            <a:r>
              <a:rPr sz="3000" b="1" i="0" u="none" dirty="0">
                <a:solidFill>
                  <a:srgbClr val="DC2626"/>
                </a:solidFill>
                <a:latin typeface="Segoe UI" panose="020B0502040204020203" pitchFamily="34" charset="0"/>
              </a:rPr>
              <a:t>→ TIDAK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14975"/>
            <a:ext cx="10972800" cy="733425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381125"/>
            <a:ext cx="5334000" cy="382905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1381125"/>
            <a:ext cx="5334000" cy="38290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381125"/>
            <a:ext cx="53340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48400" y="1381125"/>
            <a:ext cx="5334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5568832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1.4 Yang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Benar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vs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Pilihan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LWW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9792" y="5743575"/>
            <a:ext cx="765241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LWW </a:t>
            </a:r>
            <a:r>
              <a:rPr sz="1800" b="0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membuang</a:t>
            </a:r>
            <a:r>
              <a:rPr sz="1800" b="0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perubahan</a:t>
            </a:r>
            <a:r>
              <a:rPr sz="1800" b="0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sah</a:t>
            </a:r>
            <a:r>
              <a:rPr sz="1800" b="0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yang </a:t>
            </a:r>
            <a:r>
              <a:rPr sz="1800" b="0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kalah</a:t>
            </a:r>
            <a:r>
              <a:rPr sz="1800" b="0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dalam</a:t>
            </a:r>
            <a:r>
              <a:rPr sz="1800" b="0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perlombaan</a:t>
            </a:r>
            <a:r>
              <a:rPr sz="1800" b="0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timestamp.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24025"/>
            <a:ext cx="344273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166534"/>
                </a:solidFill>
                <a:latin typeface="Segoe UI" panose="020B0502040204020203" pitchFamily="34" charset="0"/>
              </a:rPr>
              <a:t>Yang </a:t>
            </a:r>
            <a:r>
              <a:rPr sz="1800" b="1" i="0" u="none" dirty="0" err="1">
                <a:solidFill>
                  <a:srgbClr val="166534"/>
                </a:solidFill>
                <a:latin typeface="Segoe UI" panose="020B0502040204020203" pitchFamily="34" charset="0"/>
              </a:rPr>
              <a:t>seharusnya</a:t>
            </a:r>
            <a:r>
              <a:rPr sz="1800" b="1" i="0" u="none" dirty="0">
                <a:solidFill>
                  <a:srgbClr val="166534"/>
                </a:solidFill>
                <a:latin typeface="Segoe UI" panose="020B0502040204020203" pitchFamily="34" charset="0"/>
              </a:rPr>
              <a:t> </a:t>
            </a:r>
            <a:r>
              <a:rPr sz="1800" b="1" i="0" u="none" dirty="0" err="1">
                <a:solidFill>
                  <a:srgbClr val="166534"/>
                </a:solidFill>
                <a:latin typeface="Segoe UI" panose="020B0502040204020203" pitchFamily="34" charset="0"/>
              </a:rPr>
              <a:t>dipertahankan</a:t>
            </a:r>
            <a:endParaRPr sz="1800" b="1" i="0" u="none" dirty="0">
              <a:solidFill>
                <a:srgbClr val="16653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228850"/>
            <a:ext cx="344671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Versi</a:t>
            </a:r>
            <a:r>
              <a:rPr sz="2100" b="1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3 — baris 4 (Server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05100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Karena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berasal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dari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permohonan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resmi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(BWT-08 → TNV-03) dan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berbasis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versi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2 yang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lebih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baru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1724025"/>
            <a:ext cx="191558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Yang </a:t>
            </a:r>
            <a:r>
              <a:rPr sz="1800" b="1" i="0" u="none" dirty="0" err="1">
                <a:solidFill>
                  <a:srgbClr val="9A3412"/>
                </a:solidFill>
                <a:latin typeface="Segoe UI" panose="020B0502040204020203" pitchFamily="34" charset="0"/>
              </a:rPr>
              <a:t>dipilih</a:t>
            </a:r>
            <a:r>
              <a:rPr sz="1800" b="1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 LWW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228850"/>
            <a:ext cx="343068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Versi</a:t>
            </a:r>
            <a:r>
              <a:rPr sz="2100" b="1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2 — baris 5 (Server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705100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Karena timestamp jam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fisiknya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paling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besar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,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bukan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karena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lebih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benar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124200"/>
            <a:ext cx="10972800" cy="13144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647825"/>
            <a:ext cx="1758701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68301" y="1647825"/>
            <a:ext cx="2045344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13646" y="1647825"/>
            <a:ext cx="3077616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1263" y="1647825"/>
            <a:ext cx="4091136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67250"/>
            <a:ext cx="10972800" cy="7429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195512"/>
            <a:ext cx="1758701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68301" y="2195512"/>
            <a:ext cx="20453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13646" y="2195512"/>
            <a:ext cx="3077616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1263" y="2195512"/>
            <a:ext cx="4091136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2728912"/>
            <a:ext cx="1758701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68301" y="2728912"/>
            <a:ext cx="20453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3646" y="2728912"/>
            <a:ext cx="3077616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1263" y="2728912"/>
            <a:ext cx="4091136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3124200"/>
            <a:ext cx="57150" cy="13144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4667250"/>
            <a:ext cx="57150" cy="7429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1152525"/>
          <a:ext cx="10972797" cy="1590675"/>
        </p:xfrm>
        <a:graphic>
          <a:graphicData uri="http://schemas.openxmlformats.org/drawingml/2006/table">
            <a:tbl>
              <a:tblPr/>
              <a:tblGrid>
                <a:gridCol w="1758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7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Baris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Waktu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Peristiwa</a:t>
                      </a:r>
                      <a:endParaRPr sz="1350" b="1" i="0" u="none" dirty="0">
                        <a:solidFill>
                          <a:srgbClr val="171717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09:19:07.436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B </a:t>
                      </a:r>
                      <a:r>
                        <a:rPr sz="1350" b="1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membuat</a:t>
                      </a:r>
                      <a:r>
                        <a:rPr sz="1350" b="1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1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09:19:04.236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A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menerima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versi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600472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1.5 Bukti Clock Server B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Bergeser</a:t>
            </a:r>
            <a:endParaRPr sz="3000" b="1" i="0" u="none" dirty="0">
              <a:solidFill>
                <a:srgbClr val="171717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5350" y="3352800"/>
            <a:ext cx="10553700" cy="566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Menurut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catatan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, Server B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membuat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versi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2 </a:t>
            </a:r>
            <a:r>
              <a:rPr sz="1500" b="1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3.200 </a:t>
            </a:r>
            <a:r>
              <a:rPr sz="1500" b="1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ms</a:t>
            </a:r>
            <a:r>
              <a:rPr sz="1500" b="1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(≈ 3,2 </a:t>
            </a:r>
            <a:r>
              <a:rPr sz="1500" b="1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detik</a:t>
            </a:r>
            <a:r>
              <a:rPr sz="1500" b="1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) </a:t>
            </a:r>
            <a:r>
              <a:rPr sz="1500" b="1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setelah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Server A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menerimanya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—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padahal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pesan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harus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lebih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dulu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diterima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sebelum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dibuat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salinannya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.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Selisih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ini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tidak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mungkin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secara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kausalitas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→ jam Server B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berada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 di </a:t>
            </a:r>
            <a:r>
              <a:rPr sz="1500" b="0" i="0" u="none" dirty="0" err="1">
                <a:solidFill>
                  <a:srgbClr val="991B1B"/>
                </a:solidFill>
                <a:latin typeface="Segoe UI" panose="020B0502040204020203" pitchFamily="34" charset="0"/>
              </a:rPr>
              <a:t>depan</a:t>
            </a:r>
            <a:r>
              <a:rPr sz="1500" b="0" i="0" u="none" dirty="0">
                <a:solidFill>
                  <a:srgbClr val="991B1B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4895850"/>
            <a:ext cx="8764579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Sebagai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pembanding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: </a:t>
            </a: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jarak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baris 4 → baris 5 </a:t>
            </a: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hanya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1.700 </a:t>
            </a:r>
            <a:r>
              <a:rPr sz="1500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ms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, </a:t>
            </a: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jauh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lebih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kecil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dari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pergeseran</a:t>
            </a:r>
            <a:r>
              <a:rPr sz="15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3.200 </a:t>
            </a:r>
            <a:r>
              <a:rPr sz="15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ms.</a:t>
            </a:r>
            <a:endParaRPr sz="1500" b="0" i="0" u="none" dirty="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304925"/>
            <a:ext cx="10972800" cy="7334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895600"/>
            <a:ext cx="45720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581400"/>
            <a:ext cx="45720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267200"/>
            <a:ext cx="45720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4104072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1.6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Tanggapan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Klaim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19350"/>
            <a:ext cx="5042599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Tiga </a:t>
            </a:r>
            <a:r>
              <a:rPr sz="165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alasan</a:t>
            </a:r>
            <a:r>
              <a:rPr sz="165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65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klaim</a:t>
            </a:r>
            <a:r>
              <a:rPr sz="165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65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ini</a:t>
            </a:r>
            <a:r>
              <a:rPr sz="165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65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tidak</a:t>
            </a:r>
            <a:r>
              <a:rPr sz="165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65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menyelesaikan</a:t>
            </a:r>
            <a:r>
              <a:rPr sz="165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65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masalah</a:t>
            </a:r>
            <a:r>
              <a:rPr sz="165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33525"/>
            <a:ext cx="858254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Klaim</a:t>
            </a:r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operator: "Jam Server B </a:t>
            </a:r>
            <a:r>
              <a:rPr sz="1800" b="1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tidak</a:t>
            </a:r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sz="1800" b="1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tepat</a:t>
            </a:r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, </a:t>
            </a:r>
            <a:r>
              <a:rPr sz="1800" b="1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jadi</a:t>
            </a:r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sz="1800" b="1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cukup</a:t>
            </a:r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sz="1800" b="1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sinkronkan</a:t>
            </a:r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sz="1800" b="1" i="0" u="none" dirty="0" err="1">
                <a:solidFill>
                  <a:srgbClr val="FFFFFF"/>
                </a:solidFill>
                <a:latin typeface="Segoe UI" panose="020B0502040204020203" pitchFamily="34" charset="0"/>
              </a:rPr>
              <a:t>dengan</a:t>
            </a:r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 NTP."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2985700"/>
            <a:ext cx="74295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2971800"/>
            <a:ext cx="8652049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Skew </a:t>
            </a:r>
            <a:r>
              <a:rPr sz="15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bukan</a:t>
            </a: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penyebab</a:t>
            </a: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akar</a:t>
            </a: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Masalahnya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adalah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memakai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timestamp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fisik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untuk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kejadian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concurrent.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3671500"/>
            <a:ext cx="74295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657600"/>
            <a:ext cx="7715510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NTP </a:t>
            </a:r>
            <a:r>
              <a:rPr sz="15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tidak</a:t>
            </a: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menghapus</a:t>
            </a: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konkurensi</a:t>
            </a: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Meski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jam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rapat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, dua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penulisan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tetap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bisa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bersamaan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4357300"/>
            <a:ext cx="74295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 dirty="0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343400"/>
            <a:ext cx="8914043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Butuh</a:t>
            </a: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resolusi</a:t>
            </a: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kausal</a:t>
            </a:r>
            <a:r>
              <a:rPr sz="1500" b="1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.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Yang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diperlukan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adalah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mekanisme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seperti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vector clock,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bukan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penyelarasan</a:t>
            </a:r>
            <a:r>
              <a:rPr sz="15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jam.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4175" y="2790825"/>
            <a:ext cx="6343650" cy="1533525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92741" y="1066800"/>
            <a:ext cx="6406369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1.7 Cara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Ukur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(Cristian's Algorithm)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3493" y="1990725"/>
            <a:ext cx="8005012" cy="3119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Client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mengirim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permintaan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waktu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t1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ke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server,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lalu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menerima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404040"/>
                </a:solidFill>
                <a:latin typeface="Segoe UI" panose="020B0502040204020203" pitchFamily="34" charset="0"/>
              </a:rPr>
              <a:t>balasan</a:t>
            </a:r>
            <a:r>
              <a:rPr sz="1800" b="0" i="0" u="none" dirty="0">
                <a:solidFill>
                  <a:srgbClr val="404040"/>
                </a:solidFill>
                <a:latin typeface="Segoe UI" panose="020B0502040204020203" pitchFamily="34" charset="0"/>
              </a:rPr>
              <a:t> pada t4.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781550"/>
            <a:ext cx="9525000" cy="26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Dipakai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putaran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dengan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RTT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terkecil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karena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paling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sedikit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terpengaruh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variasi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500" b="0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jaringan</a:t>
            </a:r>
            <a:r>
              <a:rPr sz="1500" b="0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1457" y="5505450"/>
            <a:ext cx="6489084" cy="264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Ketidakpastian</a:t>
            </a:r>
            <a:r>
              <a:rPr sz="1500" b="1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= </a:t>
            </a:r>
            <a:r>
              <a:rPr sz="1500" b="1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setengah</a:t>
            </a:r>
            <a:r>
              <a:rPr sz="1500" b="1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RTT </a:t>
            </a:r>
            <a:r>
              <a:rPr sz="1500" b="1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terkecil</a:t>
            </a:r>
            <a:r>
              <a:rPr sz="1500" b="1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, </a:t>
            </a:r>
            <a:r>
              <a:rPr sz="1500" b="1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dicetak</a:t>
            </a:r>
            <a:r>
              <a:rPr sz="1500" b="1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</a:t>
            </a:r>
            <a:r>
              <a:rPr sz="1500" b="1" i="0" u="none" dirty="0" err="1">
                <a:solidFill>
                  <a:srgbClr val="525252"/>
                </a:solidFill>
                <a:latin typeface="Segoe UI" panose="020B0502040204020203" pitchFamily="34" charset="0"/>
              </a:rPr>
              <a:t>otomatis</a:t>
            </a:r>
            <a:r>
              <a:rPr sz="1500" b="1" i="0" u="none" dirty="0">
                <a:solidFill>
                  <a:srgbClr val="525252"/>
                </a:solidFill>
                <a:latin typeface="Segoe UI" panose="020B0502040204020203" pitchFamily="34" charset="0"/>
              </a:rPr>
              <a:t> oleh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1790" y="3267075"/>
            <a:ext cx="5228418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offset = T − (t1 + t4) /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1724025"/>
            <a:ext cx="263649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46090" y="1724025"/>
            <a:ext cx="2468909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2717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090" y="22717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8051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090" y="28051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33385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090" y="33385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38719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090" y="38719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44053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46090" y="44053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1228725"/>
          <a:ext cx="5105399" cy="3190875"/>
        </p:xfrm>
        <a:graphic>
          <a:graphicData uri="http://schemas.openxmlformats.org/drawingml/2006/table">
            <a:tbl>
              <a:tblPr/>
              <a:tblGrid>
                <a:gridCol w="263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Segoe UI" panose="020B0502040204020203" pitchFamily="34" charset="0"/>
                        </a:rPr>
                        <a:t>Nilai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Putaran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RTT median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5,9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ms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RTT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terkecil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5,0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ms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Clock B −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−24.357,6 </a:t>
                      </a:r>
                      <a:r>
                        <a:rPr sz="1350" b="1" i="0" u="none" dirty="0" err="1">
                          <a:solidFill>
                            <a:srgbClr val="EA580C"/>
                          </a:solidFill>
                          <a:latin typeface="Segoe UI" panose="020B0502040204020203" pitchFamily="34" charset="0"/>
                        </a:rPr>
                        <a:t>ms</a:t>
                      </a:r>
                      <a:endParaRPr sz="1350" b="1" i="0" u="none" dirty="0">
                        <a:solidFill>
                          <a:srgbClr val="EA580C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815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Ketidakpastian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± 2,5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</a:rPr>
                        <a:t>ms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252793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1.7 Hasil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Ukur</a:t>
            </a:r>
            <a:endParaRPr sz="3000" b="1" i="0" u="none" dirty="0">
              <a:solidFill>
                <a:srgbClr val="171717"/>
              </a:solidFill>
              <a:latin typeface="Segoe UI" panose="020B0502040204020203" pitchFamily="34" charset="0"/>
            </a:endParaRPr>
          </a:p>
        </p:txBody>
      </p:sp>
      <p:pic>
        <p:nvPicPr>
          <p:cNvPr id="22" name="sek 1">
            <a:hlinkClick r:id="" action="ppaction://media"/>
            <a:extLst>
              <a:ext uri="{FF2B5EF4-FFF2-40B4-BE49-F238E27FC236}">
                <a16:creationId xmlns:a16="http://schemas.microsoft.com/office/drawing/2014/main" id="{0C40BFE0-CD4E-207B-CAC6-AA3FD2EEE4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r="57278" b="70383"/>
          <a:stretch>
            <a:fillRect/>
          </a:stretch>
        </p:blipFill>
        <p:spPr>
          <a:xfrm>
            <a:off x="6275536" y="1439371"/>
            <a:ext cx="4934719" cy="2031131"/>
          </a:xfrm>
          <a:prstGeom prst="rect">
            <a:avLst/>
          </a:prstGeom>
        </p:spPr>
      </p:pic>
      <p:pic>
        <p:nvPicPr>
          <p:cNvPr id="23" name="sek 2">
            <a:hlinkClick r:id="" action="ppaction://media"/>
            <a:extLst>
              <a:ext uri="{FF2B5EF4-FFF2-40B4-BE49-F238E27FC236}">
                <a16:creationId xmlns:a16="http://schemas.microsoft.com/office/drawing/2014/main" id="{EABE766A-4F09-8184-120A-F5FD2CEF46B5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r="51664" b="69680"/>
          <a:stretch>
            <a:fillRect/>
          </a:stretch>
        </p:blipFill>
        <p:spPr>
          <a:xfrm>
            <a:off x="6275537" y="4090737"/>
            <a:ext cx="4934719" cy="1933543"/>
          </a:xfrm>
          <a:prstGeom prst="rect">
            <a:avLst/>
          </a:prstGeom>
        </p:spPr>
      </p:pic>
      <p:sp>
        <p:nvSpPr>
          <p:cNvPr id="25" name="Kotak Teks 24">
            <a:extLst>
              <a:ext uri="{FF2B5EF4-FFF2-40B4-BE49-F238E27FC236}">
                <a16:creationId xmlns:a16="http://schemas.microsoft.com/office/drawing/2014/main" id="{293E304D-23BC-AA30-88BA-C678DE89772F}"/>
              </a:ext>
            </a:extLst>
          </p:cNvPr>
          <p:cNvSpPr txBox="1"/>
          <p:nvPr/>
        </p:nvSpPr>
        <p:spPr>
          <a:xfrm>
            <a:off x="6275536" y="996982"/>
            <a:ext cx="44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Menjalankan server </a:t>
            </a:r>
            <a:r>
              <a:rPr lang="id-ID" dirty="0" err="1"/>
              <a:t>clock</a:t>
            </a:r>
            <a:r>
              <a:rPr lang="id-ID" dirty="0"/>
              <a:t> </a:t>
            </a:r>
            <a:r>
              <a:rPr lang="id-ID" dirty="0" err="1"/>
              <a:t>skew</a:t>
            </a:r>
            <a:r>
              <a:rPr lang="id-ID" dirty="0"/>
              <a:t> di Laptop B</a:t>
            </a:r>
          </a:p>
        </p:txBody>
      </p:sp>
      <p:sp>
        <p:nvSpPr>
          <p:cNvPr id="27" name="Kotak Teks 26">
            <a:extLst>
              <a:ext uri="{FF2B5EF4-FFF2-40B4-BE49-F238E27FC236}">
                <a16:creationId xmlns:a16="http://schemas.microsoft.com/office/drawing/2014/main" id="{51587CAB-8A09-74F2-6BAA-F7B0672D0FAD}"/>
              </a:ext>
            </a:extLst>
          </p:cNvPr>
          <p:cNvSpPr txBox="1"/>
          <p:nvPr/>
        </p:nvSpPr>
        <p:spPr>
          <a:xfrm>
            <a:off x="6275536" y="3687246"/>
            <a:ext cx="459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Menjalankan </a:t>
            </a:r>
            <a:r>
              <a:rPr lang="id-ID" dirty="0" err="1"/>
              <a:t>client</a:t>
            </a:r>
            <a:r>
              <a:rPr lang="id-ID" dirty="0"/>
              <a:t> dan hasil ukur di Laptop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25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933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943350"/>
            <a:ext cx="10972800" cy="24574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228725"/>
            <a:ext cx="533400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1228725"/>
            <a:ext cx="533400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943350"/>
            <a:ext cx="76200" cy="24574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320440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1.7 </a:t>
            </a:r>
            <a:r>
              <a:rPr sz="30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Butir</a:t>
            </a:r>
            <a:r>
              <a:rPr sz="30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(a) &amp;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5681" y="4400550"/>
            <a:ext cx="343683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 err="1">
                <a:solidFill>
                  <a:srgbClr val="C2410C"/>
                </a:solidFill>
                <a:latin typeface="Segoe UI" panose="020B0502040204020203" pitchFamily="34" charset="0"/>
              </a:rPr>
              <a:t>Jeda_min</a:t>
            </a:r>
            <a:r>
              <a:rPr sz="1800" b="1" i="0" u="none" dirty="0">
                <a:solidFill>
                  <a:srgbClr val="C2410C"/>
                </a:solidFill>
                <a:latin typeface="Segoe UI" panose="020B0502040204020203" pitchFamily="34" charset="0"/>
              </a:rPr>
              <a:t> = 24.357,6 + (2 × 2,5)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0848" y="4829175"/>
            <a:ext cx="4326504" cy="7694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 dirty="0">
                <a:solidFill>
                  <a:srgbClr val="EA580C"/>
                </a:solidFill>
                <a:latin typeface="Segoe UI" panose="020B0502040204020203" pitchFamily="34" charset="0"/>
              </a:rPr>
              <a:t>24.362,6 </a:t>
            </a:r>
            <a:r>
              <a:rPr sz="6000" b="1" i="0" u="none" dirty="0" err="1">
                <a:solidFill>
                  <a:srgbClr val="EA580C"/>
                </a:solidFill>
                <a:latin typeface="Segoe UI" panose="020B0502040204020203" pitchFamily="34" charset="0"/>
              </a:rPr>
              <a:t>ms</a:t>
            </a:r>
            <a:endParaRPr sz="6000" b="1" i="0" u="none" dirty="0">
              <a:solidFill>
                <a:srgbClr val="EA580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339" y="5743575"/>
            <a:ext cx="303352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(skew </a:t>
            </a:r>
            <a:r>
              <a:rPr sz="1350" b="0" i="0" u="none" dirty="0" err="1">
                <a:solidFill>
                  <a:srgbClr val="9A3412"/>
                </a:solidFill>
                <a:latin typeface="Segoe UI" panose="020B0502040204020203" pitchFamily="34" charset="0"/>
              </a:rPr>
              <a:t>terukur</a:t>
            </a:r>
            <a:r>
              <a:rPr sz="1350" b="0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 + dua kali </a:t>
            </a:r>
            <a:r>
              <a:rPr sz="1350" b="0" i="0" u="none" dirty="0" err="1">
                <a:solidFill>
                  <a:srgbClr val="9A3412"/>
                </a:solidFill>
                <a:latin typeface="Segoe UI" panose="020B0502040204020203" pitchFamily="34" charset="0"/>
              </a:rPr>
              <a:t>ketidakpastian</a:t>
            </a:r>
            <a:r>
              <a:rPr sz="1350" b="0" i="0" u="none" dirty="0">
                <a:solidFill>
                  <a:srgbClr val="9A3412"/>
                </a:solidFill>
                <a:latin typeface="Segoe UI" panose="020B0502040204020203" pitchFamily="34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1543050"/>
            <a:ext cx="160729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EA580C"/>
                </a:solidFill>
                <a:latin typeface="Segoe UI" panose="020B0502040204020203" pitchFamily="34" charset="0"/>
              </a:rPr>
              <a:t>(a) Jarak </a:t>
            </a:r>
            <a:r>
              <a:rPr sz="1500" b="1" i="0" u="none" dirty="0" err="1">
                <a:solidFill>
                  <a:srgbClr val="EA580C"/>
                </a:solidFill>
                <a:latin typeface="Segoe UI" panose="020B0502040204020203" pitchFamily="34" charset="0"/>
              </a:rPr>
              <a:t>Kejadian</a:t>
            </a:r>
            <a:endParaRPr sz="1500" b="1" i="0" u="none" dirty="0">
              <a:solidFill>
                <a:srgbClr val="EA580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3925" y="1924050"/>
            <a:ext cx="292246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Baris 4 → baris 5 = </a:t>
            </a:r>
            <a:r>
              <a:rPr sz="18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1.700 </a:t>
            </a:r>
            <a:r>
              <a:rPr sz="18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ms</a:t>
            </a:r>
            <a:endParaRPr sz="1800" b="1" i="0" u="none" dirty="0">
              <a:solidFill>
                <a:srgbClr val="17171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2725" y="1543050"/>
            <a:ext cx="207730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EA580C"/>
                </a:solidFill>
                <a:latin typeface="Segoe UI" panose="020B0502040204020203" pitchFamily="34" charset="0"/>
              </a:rPr>
              <a:t>(b) Besar Skew </a:t>
            </a:r>
            <a:r>
              <a:rPr sz="1500" b="1" i="0" u="none" dirty="0" err="1">
                <a:solidFill>
                  <a:srgbClr val="EA580C"/>
                </a:solidFill>
                <a:latin typeface="Segoe UI" panose="020B0502040204020203" pitchFamily="34" charset="0"/>
              </a:rPr>
              <a:t>Terukur</a:t>
            </a:r>
            <a:endParaRPr sz="1500" b="1" i="0" u="none" dirty="0">
              <a:solidFill>
                <a:srgbClr val="EA580C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2725" y="1924050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24.357,6 </a:t>
            </a:r>
            <a:r>
              <a:rPr sz="1800" b="1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ms</a:t>
            </a:r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— </a:t>
            </a:r>
            <a:r>
              <a:rPr sz="1800" b="0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jauh</a:t>
            </a:r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melampaui</a:t>
            </a:r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jarak</a:t>
            </a:r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kejadian</a:t>
            </a:r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→ </a:t>
            </a:r>
            <a:r>
              <a:rPr sz="1800" b="0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urutan</a:t>
            </a:r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timestamp </a:t>
            </a:r>
            <a:r>
              <a:rPr sz="1800" b="0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tidak</a:t>
            </a:r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bisa</a:t>
            </a:r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 </a:t>
            </a:r>
            <a:r>
              <a:rPr sz="1800" b="0" i="0" u="none" dirty="0" err="1">
                <a:solidFill>
                  <a:srgbClr val="171717"/>
                </a:solidFill>
                <a:latin typeface="Segoe UI" panose="020B0502040204020203" pitchFamily="34" charset="0"/>
              </a:rPr>
              <a:t>dipercaya</a:t>
            </a:r>
            <a:r>
              <a:rPr sz="1800" b="0" i="0" u="none" dirty="0">
                <a:solidFill>
                  <a:srgbClr val="171717"/>
                </a:solidFill>
                <a:latin typeface="Segoe U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1248</Words>
  <Application>Microsoft Office PowerPoint</Application>
  <PresentationFormat>Layar Lebar</PresentationFormat>
  <Paragraphs>219</Paragraphs>
  <Slides>18</Slides>
  <Notes>0</Notes>
  <HiddenSlides>0</HiddenSlides>
  <MMClips>2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18</vt:i4>
      </vt:variant>
    </vt:vector>
  </HeadingPairs>
  <TitlesOfParts>
    <vt:vector size="22" baseType="lpstr">
      <vt:lpstr>Segoe UI</vt:lpstr>
      <vt:lpstr>Calibri</vt:lpstr>
      <vt:lpstr>Arial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Esar Fauzan</dc:creator>
  <cp:keywords/>
  <dc:description>generated using python-pptx</dc:description>
  <cp:lastModifiedBy>Esar Fauzan</cp:lastModifiedBy>
  <cp:revision>3</cp:revision>
  <dcterms:created xsi:type="dcterms:W3CDTF">2013-01-27T09:14:16Z</dcterms:created>
  <dcterms:modified xsi:type="dcterms:W3CDTF">2026-10-15T13:33:45Z</dcterms:modified>
  <cp:category/>
</cp:coreProperties>
</file>